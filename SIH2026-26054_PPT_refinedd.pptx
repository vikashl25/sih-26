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91" r:id="rId2"/>
    <p:sldId id="281" r:id="rId3"/>
    <p:sldId id="290" r:id="rId4"/>
    <p:sldId id="301" r:id="rId5"/>
    <p:sldId id="299" r:id="rId6"/>
    <p:sldId id="302" r:id="rId7"/>
    <p:sldId id="293" r:id="rId8"/>
    <p:sldId id="300" r:id="rId9"/>
    <p:sldId id="294" r:id="rId10"/>
    <p:sldId id="296" r:id="rId11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5A036C-B257-4963-AA9A-78B1D8331184}" v="369" dt="2026-09-03T16:20:26.398"/>
    <p1510:client id="{F70C7379-BCE1-F726-808B-B87D2A0A1F3E}" v="52" dt="2026-09-03T14:58:59.9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87190" autoAdjust="0"/>
  </p:normalViewPr>
  <p:slideViewPr>
    <p:cSldViewPr snapToGrid="0" snapToObjects="1">
      <p:cViewPr varScale="1">
        <p:scale>
          <a:sx n="72" d="100"/>
          <a:sy n="72" d="100"/>
        </p:scale>
        <p:origin x="82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B704E4-B21D-40A1-8885-E1EA6FC5C637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487A7C8-3064-4A13-88BA-2C1AEDD02E74}">
      <dgm:prSet phldrT="[Text]" phldr="0"/>
      <dgm:spPr/>
      <dgm:t>
        <a:bodyPr/>
        <a:lstStyle/>
        <a:p>
          <a:r>
            <a:rPr lang="en-IN" dirty="0"/>
            <a:t>Impact</a:t>
          </a:r>
        </a:p>
      </dgm:t>
    </dgm:pt>
    <dgm:pt modelId="{2C4EEDB9-0881-4650-BADC-1B10A02215DA}" type="parTrans" cxnId="{EB20AC52-2725-41D6-838D-98F207F39F15}">
      <dgm:prSet/>
      <dgm:spPr/>
      <dgm:t>
        <a:bodyPr/>
        <a:lstStyle/>
        <a:p>
          <a:endParaRPr lang="en-IN"/>
        </a:p>
      </dgm:t>
    </dgm:pt>
    <dgm:pt modelId="{ECD5A8A3-0A00-433F-AA99-AC241F474940}" type="sibTrans" cxnId="{EB20AC52-2725-41D6-838D-98F207F39F15}">
      <dgm:prSet/>
      <dgm:spPr/>
      <dgm:t>
        <a:bodyPr/>
        <a:lstStyle/>
        <a:p>
          <a:endParaRPr lang="en-IN"/>
        </a:p>
      </dgm:t>
    </dgm:pt>
    <dgm:pt modelId="{AF912EA2-1A86-4F6D-BB06-201ED7D3081D}">
      <dgm:prSet phldrT="[Text]" custT="1"/>
      <dgm:spPr/>
      <dgm:t>
        <a:bodyPr/>
        <a:lstStyle/>
        <a:p>
          <a:pPr>
            <a:buNone/>
          </a:pPr>
          <a:r>
            <a:rPr lang="en-IN" sz="1600" b="1" dirty="0"/>
            <a:t>UAV operators:</a:t>
          </a:r>
          <a:r>
            <a:rPr lang="en-IN" sz="1600" dirty="0"/>
            <a:t> Real-time visibility of engine health, faults and mission reliability.</a:t>
          </a:r>
        </a:p>
      </dgm:t>
    </dgm:pt>
    <dgm:pt modelId="{6C2B6809-82A3-4E3A-83F3-DEDCA2D8435A}" type="parTrans" cxnId="{39C542E6-F147-4209-B3A3-AF68920C7DC3}">
      <dgm:prSet/>
      <dgm:spPr/>
      <dgm:t>
        <a:bodyPr/>
        <a:lstStyle/>
        <a:p>
          <a:endParaRPr lang="en-IN"/>
        </a:p>
      </dgm:t>
    </dgm:pt>
    <dgm:pt modelId="{6F65824A-7A09-472E-B67B-9D3B13D54B79}" type="sibTrans" cxnId="{39C542E6-F147-4209-B3A3-AF68920C7DC3}">
      <dgm:prSet/>
      <dgm:spPr/>
      <dgm:t>
        <a:bodyPr/>
        <a:lstStyle/>
        <a:p>
          <a:endParaRPr lang="en-IN"/>
        </a:p>
      </dgm:t>
    </dgm:pt>
    <dgm:pt modelId="{4732271B-414F-4361-8158-26B06AC22919}">
      <dgm:prSet phldrT="[Text]"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Maintenance teams: </a:t>
          </a:r>
          <a:r>
            <a:rPr lang="en-IN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Early fault detection and predictive maintenance advisories.</a:t>
          </a:r>
        </a:p>
      </dgm:t>
    </dgm:pt>
    <dgm:pt modelId="{05EB5C73-EAA2-44C0-A1F3-E5BD794508FF}" type="parTrans" cxnId="{4D2EEFEC-4713-4944-9548-38CFD036B2F8}">
      <dgm:prSet/>
      <dgm:spPr/>
      <dgm:t>
        <a:bodyPr/>
        <a:lstStyle/>
        <a:p>
          <a:endParaRPr lang="en-IN"/>
        </a:p>
      </dgm:t>
    </dgm:pt>
    <dgm:pt modelId="{75E24F9A-6555-4887-93B2-F2CBBE4B159B}" type="sibTrans" cxnId="{4D2EEFEC-4713-4944-9548-38CFD036B2F8}">
      <dgm:prSet/>
      <dgm:spPr/>
      <dgm:t>
        <a:bodyPr/>
        <a:lstStyle/>
        <a:p>
          <a:endParaRPr lang="en-IN"/>
        </a:p>
      </dgm:t>
    </dgm:pt>
    <dgm:pt modelId="{558A400A-F9ED-42E7-A0DD-5276A2172283}">
      <dgm:prSet phldrT="[Text]" phldr="0"/>
      <dgm:spPr/>
      <dgm:t>
        <a:bodyPr/>
        <a:lstStyle/>
        <a:p>
          <a:r>
            <a:rPr lang="en-IN" dirty="0"/>
            <a:t>Benefits </a:t>
          </a:r>
        </a:p>
      </dgm:t>
    </dgm:pt>
    <dgm:pt modelId="{B6C7EB44-8050-4614-9396-B150E7CCDBA8}" type="parTrans" cxnId="{B9FB0191-66E2-4F65-8838-EDFC47DB7CFC}">
      <dgm:prSet/>
      <dgm:spPr/>
      <dgm:t>
        <a:bodyPr/>
        <a:lstStyle/>
        <a:p>
          <a:endParaRPr lang="en-IN"/>
        </a:p>
      </dgm:t>
    </dgm:pt>
    <dgm:pt modelId="{8F08C7FE-FB9D-4AFB-9A53-E5716148AFEB}" type="sibTrans" cxnId="{B9FB0191-66E2-4F65-8838-EDFC47DB7CFC}">
      <dgm:prSet/>
      <dgm:spPr/>
      <dgm:t>
        <a:bodyPr/>
        <a:lstStyle/>
        <a:p>
          <a:endParaRPr lang="en-IN"/>
        </a:p>
      </dgm:t>
    </dgm:pt>
    <dgm:pt modelId="{B68766BD-EA49-4BF8-80EB-96DCA8852001}">
      <dgm:prSet phldrT="[Text]"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Safety: </a:t>
          </a:r>
          <a:r>
            <a:rPr lang="en-IN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Detects anomalies and predicts potential failures before critical conditions.</a:t>
          </a:r>
        </a:p>
      </dgm:t>
    </dgm:pt>
    <dgm:pt modelId="{3E3226A8-43CB-4ED7-BEEA-B4C0CB42F9AA}" type="parTrans" cxnId="{0AAB52EE-5332-4C46-ABC2-0C3AC1A74C95}">
      <dgm:prSet/>
      <dgm:spPr/>
      <dgm:t>
        <a:bodyPr/>
        <a:lstStyle/>
        <a:p>
          <a:endParaRPr lang="en-IN"/>
        </a:p>
      </dgm:t>
    </dgm:pt>
    <dgm:pt modelId="{01C9ECF2-3799-412B-914B-68C4D3E9CEC9}" type="sibTrans" cxnId="{0AAB52EE-5332-4C46-ABC2-0C3AC1A74C95}">
      <dgm:prSet/>
      <dgm:spPr/>
      <dgm:t>
        <a:bodyPr/>
        <a:lstStyle/>
        <a:p>
          <a:endParaRPr lang="en-IN"/>
        </a:p>
      </dgm:t>
    </dgm:pt>
    <dgm:pt modelId="{81F65E2D-C5A9-43D0-A4A1-E316781628FD}">
      <dgm:prSet phldrT="[Text]"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Economic: </a:t>
          </a:r>
          <a:r>
            <a:rPr lang="en-IN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Reduces unscheduled maintenance, downtime and component replacement costs.</a:t>
          </a:r>
        </a:p>
      </dgm:t>
    </dgm:pt>
    <dgm:pt modelId="{618B24A8-6EA6-4A7D-A0E4-6CC062F0A637}" type="parTrans" cxnId="{A45F4CA6-7B0C-47A1-861F-6E0B390FCE97}">
      <dgm:prSet/>
      <dgm:spPr/>
      <dgm:t>
        <a:bodyPr/>
        <a:lstStyle/>
        <a:p>
          <a:endParaRPr lang="en-IN"/>
        </a:p>
      </dgm:t>
    </dgm:pt>
    <dgm:pt modelId="{4D8DDB57-3A93-4234-8442-A3BE46CDB880}" type="sibTrans" cxnId="{A45F4CA6-7B0C-47A1-861F-6E0B390FCE97}">
      <dgm:prSet/>
      <dgm:spPr/>
      <dgm:t>
        <a:bodyPr/>
        <a:lstStyle/>
        <a:p>
          <a:endParaRPr lang="en-IN"/>
        </a:p>
      </dgm:t>
    </dgm:pt>
    <dgm:pt modelId="{2B1D520F-9A2E-4335-884D-5AD46B48740A}">
      <dgm:prSet phldrT="[Text]"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Fleet managers: </a:t>
          </a:r>
          <a:r>
            <a:rPr lang="en-IN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Fleet-wide health tracking and post-flight analysis.</a:t>
          </a:r>
        </a:p>
      </dgm:t>
    </dgm:pt>
    <dgm:pt modelId="{74759381-4C06-41F8-B270-7E83329AFEF2}" type="parTrans" cxnId="{4F023C46-9843-4A63-B24A-1688D5ACCAC5}">
      <dgm:prSet/>
      <dgm:spPr/>
      <dgm:t>
        <a:bodyPr/>
        <a:lstStyle/>
        <a:p>
          <a:endParaRPr lang="en-IN"/>
        </a:p>
      </dgm:t>
    </dgm:pt>
    <dgm:pt modelId="{8FCDF8F8-BE1D-4C95-B8E2-F912D42A2AF8}" type="sibTrans" cxnId="{4F023C46-9843-4A63-B24A-1688D5ACCAC5}">
      <dgm:prSet/>
      <dgm:spPr/>
      <dgm:t>
        <a:bodyPr/>
        <a:lstStyle/>
        <a:p>
          <a:endParaRPr lang="en-IN"/>
        </a:p>
      </dgm:t>
    </dgm:pt>
    <dgm:pt modelId="{E6AD72D1-355B-461D-AED8-89EA87CDE2C6}">
      <dgm:prSet phldrT="[Text]"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Defence organizations: </a:t>
          </a:r>
          <a:r>
            <a:rPr lang="en-IN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Improved mission readiness and reduced risk of engine-related mission failure.</a:t>
          </a:r>
        </a:p>
      </dgm:t>
    </dgm:pt>
    <dgm:pt modelId="{EAFD32E9-F45C-4ABE-A6CC-E143A5ABF8D5}" type="parTrans" cxnId="{30D8B4D6-7459-4A73-94A2-8A2F1981C40A}">
      <dgm:prSet/>
      <dgm:spPr/>
      <dgm:t>
        <a:bodyPr/>
        <a:lstStyle/>
        <a:p>
          <a:endParaRPr lang="en-IN"/>
        </a:p>
      </dgm:t>
    </dgm:pt>
    <dgm:pt modelId="{4E46FB9F-F03B-455D-AA0C-E04A752A90A8}" type="sibTrans" cxnId="{30D8B4D6-7459-4A73-94A2-8A2F1981C40A}">
      <dgm:prSet/>
      <dgm:spPr/>
      <dgm:t>
        <a:bodyPr/>
        <a:lstStyle/>
        <a:p>
          <a:endParaRPr lang="en-IN"/>
        </a:p>
      </dgm:t>
    </dgm:pt>
    <dgm:pt modelId="{198CC087-354D-4A92-A291-FD258285DDED}">
      <dgm:prSet phldrT="[Text]"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Predictive Maintenance: </a:t>
          </a:r>
          <a:r>
            <a:rPr lang="en-IN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Uses degradation trends and RUL estimation to support condition-based maintenance.</a:t>
          </a:r>
        </a:p>
      </dgm:t>
    </dgm:pt>
    <dgm:pt modelId="{C03AAAA8-9146-484F-A0E5-AAB5AF589E53}" type="parTrans" cxnId="{9FED78C7-B410-4D8C-9939-0A0D6747CCA2}">
      <dgm:prSet/>
      <dgm:spPr/>
      <dgm:t>
        <a:bodyPr/>
        <a:lstStyle/>
        <a:p>
          <a:endParaRPr lang="en-IN"/>
        </a:p>
      </dgm:t>
    </dgm:pt>
    <dgm:pt modelId="{F3316FC3-CB8C-47D0-8444-C272D077423F}" type="sibTrans" cxnId="{9FED78C7-B410-4D8C-9939-0A0D6747CCA2}">
      <dgm:prSet/>
      <dgm:spPr/>
      <dgm:t>
        <a:bodyPr/>
        <a:lstStyle/>
        <a:p>
          <a:endParaRPr lang="en-IN"/>
        </a:p>
      </dgm:t>
    </dgm:pt>
    <dgm:pt modelId="{CD1770EF-8D91-4218-AAAE-376355094C1A}">
      <dgm:prSet phldrT="[Text]"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Scalability: </a:t>
          </a:r>
          <a:r>
            <a:rPr lang="en-IN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Can be extended across multiple UAVs, missions and engine configurations.</a:t>
          </a:r>
        </a:p>
      </dgm:t>
    </dgm:pt>
    <dgm:pt modelId="{129BB6F3-2BA1-4402-955A-03335EBBA080}" type="parTrans" cxnId="{2B20BE13-EDAD-436C-AD99-33A9844176A9}">
      <dgm:prSet/>
      <dgm:spPr/>
      <dgm:t>
        <a:bodyPr/>
        <a:lstStyle/>
        <a:p>
          <a:endParaRPr lang="en-IN"/>
        </a:p>
      </dgm:t>
    </dgm:pt>
    <dgm:pt modelId="{85C4B86D-FC7B-4EA7-B5D2-28AD04D2CDDF}" type="sibTrans" cxnId="{2B20BE13-EDAD-436C-AD99-33A9844176A9}">
      <dgm:prSet/>
      <dgm:spPr/>
      <dgm:t>
        <a:bodyPr/>
        <a:lstStyle/>
        <a:p>
          <a:endParaRPr lang="en-IN"/>
        </a:p>
      </dgm:t>
    </dgm:pt>
    <dgm:pt modelId="{504283D3-5452-4CB7-AF21-190AE379E8B5}" type="pres">
      <dgm:prSet presAssocID="{A3B704E4-B21D-40A1-8885-E1EA6FC5C63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1CCADD0-E155-4F58-BC4F-FAEDC66DFF0F}" type="pres">
      <dgm:prSet presAssocID="{F487A7C8-3064-4A13-88BA-2C1AEDD02E74}" presName="root" presStyleCnt="0"/>
      <dgm:spPr/>
    </dgm:pt>
    <dgm:pt modelId="{8C0507D5-C0A4-4450-85BC-1AD72ACAFCD3}" type="pres">
      <dgm:prSet presAssocID="{F487A7C8-3064-4A13-88BA-2C1AEDD02E74}" presName="rootComposite" presStyleCnt="0"/>
      <dgm:spPr/>
    </dgm:pt>
    <dgm:pt modelId="{205D8D73-9598-4004-AA2E-01C00D7104CA}" type="pres">
      <dgm:prSet presAssocID="{F487A7C8-3064-4A13-88BA-2C1AEDD02E74}" presName="rootText" presStyleLbl="node1" presStyleIdx="0" presStyleCnt="2"/>
      <dgm:spPr/>
    </dgm:pt>
    <dgm:pt modelId="{5E107DC4-420E-4BF0-85C4-EB7238D92F34}" type="pres">
      <dgm:prSet presAssocID="{F487A7C8-3064-4A13-88BA-2C1AEDD02E74}" presName="rootConnector" presStyleLbl="node1" presStyleIdx="0" presStyleCnt="2"/>
      <dgm:spPr/>
    </dgm:pt>
    <dgm:pt modelId="{0726C838-AEC6-4AA9-B634-D9791E20BC2B}" type="pres">
      <dgm:prSet presAssocID="{F487A7C8-3064-4A13-88BA-2C1AEDD02E74}" presName="childShape" presStyleCnt="0"/>
      <dgm:spPr/>
    </dgm:pt>
    <dgm:pt modelId="{52836DA0-52E2-4E2E-945B-37571F7D2435}" type="pres">
      <dgm:prSet presAssocID="{6C2B6809-82A3-4E3A-83F3-DEDCA2D8435A}" presName="Name13" presStyleLbl="parChTrans1D2" presStyleIdx="0" presStyleCnt="8"/>
      <dgm:spPr/>
    </dgm:pt>
    <dgm:pt modelId="{C8364BAA-84EA-476E-AC7F-F8FE8388C363}" type="pres">
      <dgm:prSet presAssocID="{AF912EA2-1A86-4F6D-BB06-201ED7D3081D}" presName="childText" presStyleLbl="bgAcc1" presStyleIdx="0" presStyleCnt="8" custScaleX="231574">
        <dgm:presLayoutVars>
          <dgm:bulletEnabled val="1"/>
        </dgm:presLayoutVars>
      </dgm:prSet>
      <dgm:spPr/>
    </dgm:pt>
    <dgm:pt modelId="{A3F03195-644C-4394-8B44-CCFA6989E23B}" type="pres">
      <dgm:prSet presAssocID="{05EB5C73-EAA2-44C0-A1F3-E5BD794508FF}" presName="Name13" presStyleLbl="parChTrans1D2" presStyleIdx="1" presStyleCnt="8"/>
      <dgm:spPr/>
    </dgm:pt>
    <dgm:pt modelId="{372ED849-BA4F-49AC-832E-108F2C3ECA78}" type="pres">
      <dgm:prSet presAssocID="{4732271B-414F-4361-8158-26B06AC22919}" presName="childText" presStyleLbl="bgAcc1" presStyleIdx="1" presStyleCnt="8" custScaleX="235542">
        <dgm:presLayoutVars>
          <dgm:bulletEnabled val="1"/>
        </dgm:presLayoutVars>
      </dgm:prSet>
      <dgm:spPr/>
    </dgm:pt>
    <dgm:pt modelId="{52E31520-22D9-4807-A1DD-F05CF7C08CE8}" type="pres">
      <dgm:prSet presAssocID="{74759381-4C06-41F8-B270-7E83329AFEF2}" presName="Name13" presStyleLbl="parChTrans1D2" presStyleIdx="2" presStyleCnt="8"/>
      <dgm:spPr/>
    </dgm:pt>
    <dgm:pt modelId="{FEB7A589-5440-4CC0-A2D3-502477178F8E}" type="pres">
      <dgm:prSet presAssocID="{2B1D520F-9A2E-4335-884D-5AD46B48740A}" presName="childText" presStyleLbl="bgAcc1" presStyleIdx="2" presStyleCnt="8" custScaleX="234707">
        <dgm:presLayoutVars>
          <dgm:bulletEnabled val="1"/>
        </dgm:presLayoutVars>
      </dgm:prSet>
      <dgm:spPr/>
    </dgm:pt>
    <dgm:pt modelId="{FBA1F9BD-ED0D-4833-ADB2-2D21FE4EBE93}" type="pres">
      <dgm:prSet presAssocID="{EAFD32E9-F45C-4ABE-A6CC-E143A5ABF8D5}" presName="Name13" presStyleLbl="parChTrans1D2" presStyleIdx="3" presStyleCnt="8"/>
      <dgm:spPr/>
    </dgm:pt>
    <dgm:pt modelId="{0691E52D-F037-42D6-AC19-44DCD74285E4}" type="pres">
      <dgm:prSet presAssocID="{E6AD72D1-355B-461D-AED8-89EA87CDE2C6}" presName="childText" presStyleLbl="bgAcc1" presStyleIdx="3" presStyleCnt="8" custScaleX="230494" custScaleY="137800">
        <dgm:presLayoutVars>
          <dgm:bulletEnabled val="1"/>
        </dgm:presLayoutVars>
      </dgm:prSet>
      <dgm:spPr/>
    </dgm:pt>
    <dgm:pt modelId="{7CBFC237-C818-47B6-8140-D4F91FFA6F27}" type="pres">
      <dgm:prSet presAssocID="{558A400A-F9ED-42E7-A0DD-5276A2172283}" presName="root" presStyleCnt="0"/>
      <dgm:spPr/>
    </dgm:pt>
    <dgm:pt modelId="{176800B3-B18D-4711-AB88-0DD0611EBCBE}" type="pres">
      <dgm:prSet presAssocID="{558A400A-F9ED-42E7-A0DD-5276A2172283}" presName="rootComposite" presStyleCnt="0"/>
      <dgm:spPr/>
    </dgm:pt>
    <dgm:pt modelId="{83713884-8382-4945-91FF-C0A1A564D00B}" type="pres">
      <dgm:prSet presAssocID="{558A400A-F9ED-42E7-A0DD-5276A2172283}" presName="rootText" presStyleLbl="node1" presStyleIdx="1" presStyleCnt="2"/>
      <dgm:spPr/>
    </dgm:pt>
    <dgm:pt modelId="{FC2A29FC-8AAF-4D3C-B191-36B37487E9D0}" type="pres">
      <dgm:prSet presAssocID="{558A400A-F9ED-42E7-A0DD-5276A2172283}" presName="rootConnector" presStyleLbl="node1" presStyleIdx="1" presStyleCnt="2"/>
      <dgm:spPr/>
    </dgm:pt>
    <dgm:pt modelId="{F244D600-00D2-4571-BDEC-DAF69BCEF80B}" type="pres">
      <dgm:prSet presAssocID="{558A400A-F9ED-42E7-A0DD-5276A2172283}" presName="childShape" presStyleCnt="0"/>
      <dgm:spPr/>
    </dgm:pt>
    <dgm:pt modelId="{C5F7D953-0301-453D-B5E5-C1B9ADE2855A}" type="pres">
      <dgm:prSet presAssocID="{3E3226A8-43CB-4ED7-BEEA-B4C0CB42F9AA}" presName="Name13" presStyleLbl="parChTrans1D2" presStyleIdx="4" presStyleCnt="8"/>
      <dgm:spPr/>
    </dgm:pt>
    <dgm:pt modelId="{AB0D5C60-52E4-4720-B3FA-30CA6CE71FF1}" type="pres">
      <dgm:prSet presAssocID="{B68766BD-EA49-4BF8-80EB-96DCA8852001}" presName="childText" presStyleLbl="bgAcc1" presStyleIdx="4" presStyleCnt="8" custScaleX="239163">
        <dgm:presLayoutVars>
          <dgm:bulletEnabled val="1"/>
        </dgm:presLayoutVars>
      </dgm:prSet>
      <dgm:spPr/>
    </dgm:pt>
    <dgm:pt modelId="{E94938D2-ECE9-4B8E-BDC8-BC4578AC57CE}" type="pres">
      <dgm:prSet presAssocID="{618B24A8-6EA6-4A7D-A0E4-6CC062F0A637}" presName="Name13" presStyleLbl="parChTrans1D2" presStyleIdx="5" presStyleCnt="8"/>
      <dgm:spPr/>
    </dgm:pt>
    <dgm:pt modelId="{4A806753-4368-4C2B-BE1B-8CB5FDA5F396}" type="pres">
      <dgm:prSet presAssocID="{81F65E2D-C5A9-43D0-A4A1-E316781628FD}" presName="childText" presStyleLbl="bgAcc1" presStyleIdx="5" presStyleCnt="8" custScaleX="242334">
        <dgm:presLayoutVars>
          <dgm:bulletEnabled val="1"/>
        </dgm:presLayoutVars>
      </dgm:prSet>
      <dgm:spPr/>
    </dgm:pt>
    <dgm:pt modelId="{CFDCCACC-DE49-475C-B84B-6EBF04F5F2A3}" type="pres">
      <dgm:prSet presAssocID="{C03AAAA8-9146-484F-A0E5-AAB5AF589E53}" presName="Name13" presStyleLbl="parChTrans1D2" presStyleIdx="6" presStyleCnt="8"/>
      <dgm:spPr/>
    </dgm:pt>
    <dgm:pt modelId="{4BE88947-0E81-46B9-99D9-0F78E3DA3587}" type="pres">
      <dgm:prSet presAssocID="{198CC087-354D-4A92-A291-FD258285DDED}" presName="childText" presStyleLbl="bgAcc1" presStyleIdx="6" presStyleCnt="8" custScaleX="244456" custScaleY="118783" custLinFactNeighborX="-3064" custLinFactNeighborY="100">
        <dgm:presLayoutVars>
          <dgm:bulletEnabled val="1"/>
        </dgm:presLayoutVars>
      </dgm:prSet>
      <dgm:spPr/>
    </dgm:pt>
    <dgm:pt modelId="{90C76AF3-B990-480B-B5E0-3D7C2FAC84E5}" type="pres">
      <dgm:prSet presAssocID="{129BB6F3-2BA1-4402-955A-03335EBBA080}" presName="Name13" presStyleLbl="parChTrans1D2" presStyleIdx="7" presStyleCnt="8"/>
      <dgm:spPr/>
    </dgm:pt>
    <dgm:pt modelId="{FFFC1C88-F897-46AC-847B-CA6CAE0ED458}" type="pres">
      <dgm:prSet presAssocID="{CD1770EF-8D91-4218-AAAE-376355094C1A}" presName="childText" presStyleLbl="bgAcc1" presStyleIdx="7" presStyleCnt="8" custScaleX="237373">
        <dgm:presLayoutVars>
          <dgm:bulletEnabled val="1"/>
        </dgm:presLayoutVars>
      </dgm:prSet>
      <dgm:spPr/>
    </dgm:pt>
  </dgm:ptLst>
  <dgm:cxnLst>
    <dgm:cxn modelId="{94E66908-E609-44F6-A127-CD297FF4E8BB}" type="presOf" srcId="{6C2B6809-82A3-4E3A-83F3-DEDCA2D8435A}" destId="{52836DA0-52E2-4E2E-945B-37571F7D2435}" srcOrd="0" destOrd="0" presId="urn:microsoft.com/office/officeart/2005/8/layout/hierarchy3"/>
    <dgm:cxn modelId="{DE50AF08-E7A2-4470-A4C5-2A34E1A00A5C}" type="presOf" srcId="{F487A7C8-3064-4A13-88BA-2C1AEDD02E74}" destId="{5E107DC4-420E-4BF0-85C4-EB7238D92F34}" srcOrd="1" destOrd="0" presId="urn:microsoft.com/office/officeart/2005/8/layout/hierarchy3"/>
    <dgm:cxn modelId="{2B20BE13-EDAD-436C-AD99-33A9844176A9}" srcId="{558A400A-F9ED-42E7-A0DD-5276A2172283}" destId="{CD1770EF-8D91-4218-AAAE-376355094C1A}" srcOrd="3" destOrd="0" parTransId="{129BB6F3-2BA1-4402-955A-03335EBBA080}" sibTransId="{85C4B86D-FC7B-4EA7-B5D2-28AD04D2CDDF}"/>
    <dgm:cxn modelId="{FC300A22-35BC-4CD2-8D55-60E2E38283EC}" type="presOf" srcId="{129BB6F3-2BA1-4402-955A-03335EBBA080}" destId="{90C76AF3-B990-480B-B5E0-3D7C2FAC84E5}" srcOrd="0" destOrd="0" presId="urn:microsoft.com/office/officeart/2005/8/layout/hierarchy3"/>
    <dgm:cxn modelId="{965F3B2D-743F-43B4-9203-76A270BF0488}" type="presOf" srcId="{81F65E2D-C5A9-43D0-A4A1-E316781628FD}" destId="{4A806753-4368-4C2B-BE1B-8CB5FDA5F396}" srcOrd="0" destOrd="0" presId="urn:microsoft.com/office/officeart/2005/8/layout/hierarchy3"/>
    <dgm:cxn modelId="{D03BCB3F-6CEB-4434-AA84-9C2918471D46}" type="presOf" srcId="{F487A7C8-3064-4A13-88BA-2C1AEDD02E74}" destId="{205D8D73-9598-4004-AA2E-01C00D7104CA}" srcOrd="0" destOrd="0" presId="urn:microsoft.com/office/officeart/2005/8/layout/hierarchy3"/>
    <dgm:cxn modelId="{09C3AD5D-6435-4515-BDCF-14C0D083AB53}" type="presOf" srcId="{4732271B-414F-4361-8158-26B06AC22919}" destId="{372ED849-BA4F-49AC-832E-108F2C3ECA78}" srcOrd="0" destOrd="0" presId="urn:microsoft.com/office/officeart/2005/8/layout/hierarchy3"/>
    <dgm:cxn modelId="{7C498D60-54AF-4CE3-ACE3-439261C35856}" type="presOf" srcId="{C03AAAA8-9146-484F-A0E5-AAB5AF589E53}" destId="{CFDCCACC-DE49-475C-B84B-6EBF04F5F2A3}" srcOrd="0" destOrd="0" presId="urn:microsoft.com/office/officeart/2005/8/layout/hierarchy3"/>
    <dgm:cxn modelId="{4F023C46-9843-4A63-B24A-1688D5ACCAC5}" srcId="{F487A7C8-3064-4A13-88BA-2C1AEDD02E74}" destId="{2B1D520F-9A2E-4335-884D-5AD46B48740A}" srcOrd="2" destOrd="0" parTransId="{74759381-4C06-41F8-B270-7E83329AFEF2}" sibTransId="{8FCDF8F8-BE1D-4C95-B8E2-F912D42A2AF8}"/>
    <dgm:cxn modelId="{0079EE6F-4AD5-487A-8E18-4125842233C5}" type="presOf" srcId="{198CC087-354D-4A92-A291-FD258285DDED}" destId="{4BE88947-0E81-46B9-99D9-0F78E3DA3587}" srcOrd="0" destOrd="0" presId="urn:microsoft.com/office/officeart/2005/8/layout/hierarchy3"/>
    <dgm:cxn modelId="{EB20AC52-2725-41D6-838D-98F207F39F15}" srcId="{A3B704E4-B21D-40A1-8885-E1EA6FC5C637}" destId="{F487A7C8-3064-4A13-88BA-2C1AEDD02E74}" srcOrd="0" destOrd="0" parTransId="{2C4EEDB9-0881-4650-BADC-1B10A02215DA}" sibTransId="{ECD5A8A3-0A00-433F-AA99-AC241F474940}"/>
    <dgm:cxn modelId="{597A2676-3E4B-4C2D-9A20-D3597C5827EC}" type="presOf" srcId="{618B24A8-6EA6-4A7D-A0E4-6CC062F0A637}" destId="{E94938D2-ECE9-4B8E-BDC8-BC4578AC57CE}" srcOrd="0" destOrd="0" presId="urn:microsoft.com/office/officeart/2005/8/layout/hierarchy3"/>
    <dgm:cxn modelId="{E5131986-A6C1-47DD-A90E-B6E66C7D5E15}" type="presOf" srcId="{558A400A-F9ED-42E7-A0DD-5276A2172283}" destId="{FC2A29FC-8AAF-4D3C-B191-36B37487E9D0}" srcOrd="1" destOrd="0" presId="urn:microsoft.com/office/officeart/2005/8/layout/hierarchy3"/>
    <dgm:cxn modelId="{B9FB0191-66E2-4F65-8838-EDFC47DB7CFC}" srcId="{A3B704E4-B21D-40A1-8885-E1EA6FC5C637}" destId="{558A400A-F9ED-42E7-A0DD-5276A2172283}" srcOrd="1" destOrd="0" parTransId="{B6C7EB44-8050-4614-9396-B150E7CCDBA8}" sibTransId="{8F08C7FE-FB9D-4AFB-9A53-E5716148AFEB}"/>
    <dgm:cxn modelId="{324D9A91-4BAB-40E5-A9C2-CCFB9F9A43CB}" type="presOf" srcId="{558A400A-F9ED-42E7-A0DD-5276A2172283}" destId="{83713884-8382-4945-91FF-C0A1A564D00B}" srcOrd="0" destOrd="0" presId="urn:microsoft.com/office/officeart/2005/8/layout/hierarchy3"/>
    <dgm:cxn modelId="{9FA0849F-2561-4B26-AB2A-60C6D99049ED}" type="presOf" srcId="{A3B704E4-B21D-40A1-8885-E1EA6FC5C637}" destId="{504283D3-5452-4CB7-AF21-190AE379E8B5}" srcOrd="0" destOrd="0" presId="urn:microsoft.com/office/officeart/2005/8/layout/hierarchy3"/>
    <dgm:cxn modelId="{19A356A5-0EE8-408C-90C2-989477D522C0}" type="presOf" srcId="{E6AD72D1-355B-461D-AED8-89EA87CDE2C6}" destId="{0691E52D-F037-42D6-AC19-44DCD74285E4}" srcOrd="0" destOrd="0" presId="urn:microsoft.com/office/officeart/2005/8/layout/hierarchy3"/>
    <dgm:cxn modelId="{A45F4CA6-7B0C-47A1-861F-6E0B390FCE97}" srcId="{558A400A-F9ED-42E7-A0DD-5276A2172283}" destId="{81F65E2D-C5A9-43D0-A4A1-E316781628FD}" srcOrd="1" destOrd="0" parTransId="{618B24A8-6EA6-4A7D-A0E4-6CC062F0A637}" sibTransId="{4D8DDB57-3A93-4234-8442-A3BE46CDB880}"/>
    <dgm:cxn modelId="{4E9D01AF-192F-40BF-A4C4-29924FA34F5F}" type="presOf" srcId="{B68766BD-EA49-4BF8-80EB-96DCA8852001}" destId="{AB0D5C60-52E4-4720-B3FA-30CA6CE71FF1}" srcOrd="0" destOrd="0" presId="urn:microsoft.com/office/officeart/2005/8/layout/hierarchy3"/>
    <dgm:cxn modelId="{BD2D63B1-0A56-48EE-8305-A3612ECBF8BF}" type="presOf" srcId="{AF912EA2-1A86-4F6D-BB06-201ED7D3081D}" destId="{C8364BAA-84EA-476E-AC7F-F8FE8388C363}" srcOrd="0" destOrd="0" presId="urn:microsoft.com/office/officeart/2005/8/layout/hierarchy3"/>
    <dgm:cxn modelId="{CBEBB0BF-8111-451C-99F8-50785440D0B4}" type="presOf" srcId="{05EB5C73-EAA2-44C0-A1F3-E5BD794508FF}" destId="{A3F03195-644C-4394-8B44-CCFA6989E23B}" srcOrd="0" destOrd="0" presId="urn:microsoft.com/office/officeart/2005/8/layout/hierarchy3"/>
    <dgm:cxn modelId="{56C21AC4-0D7D-4F35-AA99-5C95DBCE20CD}" type="presOf" srcId="{CD1770EF-8D91-4218-AAAE-376355094C1A}" destId="{FFFC1C88-F897-46AC-847B-CA6CAE0ED458}" srcOrd="0" destOrd="0" presId="urn:microsoft.com/office/officeart/2005/8/layout/hierarchy3"/>
    <dgm:cxn modelId="{9FED78C7-B410-4D8C-9939-0A0D6747CCA2}" srcId="{558A400A-F9ED-42E7-A0DD-5276A2172283}" destId="{198CC087-354D-4A92-A291-FD258285DDED}" srcOrd="2" destOrd="0" parTransId="{C03AAAA8-9146-484F-A0E5-AAB5AF589E53}" sibTransId="{F3316FC3-CB8C-47D0-8444-C272D077423F}"/>
    <dgm:cxn modelId="{30D8B4D6-7459-4A73-94A2-8A2F1981C40A}" srcId="{F487A7C8-3064-4A13-88BA-2C1AEDD02E74}" destId="{E6AD72D1-355B-461D-AED8-89EA87CDE2C6}" srcOrd="3" destOrd="0" parTransId="{EAFD32E9-F45C-4ABE-A6CC-E143A5ABF8D5}" sibTransId="{4E46FB9F-F03B-455D-AA0C-E04A752A90A8}"/>
    <dgm:cxn modelId="{6EE775D8-FC41-4A1C-B873-7FA539A106FC}" type="presOf" srcId="{74759381-4C06-41F8-B270-7E83329AFEF2}" destId="{52E31520-22D9-4807-A1DD-F05CF7C08CE8}" srcOrd="0" destOrd="0" presId="urn:microsoft.com/office/officeart/2005/8/layout/hierarchy3"/>
    <dgm:cxn modelId="{39C542E6-F147-4209-B3A3-AF68920C7DC3}" srcId="{F487A7C8-3064-4A13-88BA-2C1AEDD02E74}" destId="{AF912EA2-1A86-4F6D-BB06-201ED7D3081D}" srcOrd="0" destOrd="0" parTransId="{6C2B6809-82A3-4E3A-83F3-DEDCA2D8435A}" sibTransId="{6F65824A-7A09-472E-B67B-9D3B13D54B79}"/>
    <dgm:cxn modelId="{63731AEC-F7E6-4E1B-B826-0CBE0BD5AE6F}" type="presOf" srcId="{EAFD32E9-F45C-4ABE-A6CC-E143A5ABF8D5}" destId="{FBA1F9BD-ED0D-4833-ADB2-2D21FE4EBE93}" srcOrd="0" destOrd="0" presId="urn:microsoft.com/office/officeart/2005/8/layout/hierarchy3"/>
    <dgm:cxn modelId="{4D2EEFEC-4713-4944-9548-38CFD036B2F8}" srcId="{F487A7C8-3064-4A13-88BA-2C1AEDD02E74}" destId="{4732271B-414F-4361-8158-26B06AC22919}" srcOrd="1" destOrd="0" parTransId="{05EB5C73-EAA2-44C0-A1F3-E5BD794508FF}" sibTransId="{75E24F9A-6555-4887-93B2-F2CBBE4B159B}"/>
    <dgm:cxn modelId="{0AAB52EE-5332-4C46-ABC2-0C3AC1A74C95}" srcId="{558A400A-F9ED-42E7-A0DD-5276A2172283}" destId="{B68766BD-EA49-4BF8-80EB-96DCA8852001}" srcOrd="0" destOrd="0" parTransId="{3E3226A8-43CB-4ED7-BEEA-B4C0CB42F9AA}" sibTransId="{01C9ECF2-3799-412B-914B-68C4D3E9CEC9}"/>
    <dgm:cxn modelId="{8053BCEF-CCCB-45E1-B10A-3569A509C893}" type="presOf" srcId="{3E3226A8-43CB-4ED7-BEEA-B4C0CB42F9AA}" destId="{C5F7D953-0301-453D-B5E5-C1B9ADE2855A}" srcOrd="0" destOrd="0" presId="urn:microsoft.com/office/officeart/2005/8/layout/hierarchy3"/>
    <dgm:cxn modelId="{7B237FF5-3D29-4FAF-AE92-E92B91017245}" type="presOf" srcId="{2B1D520F-9A2E-4335-884D-5AD46B48740A}" destId="{FEB7A589-5440-4CC0-A2D3-502477178F8E}" srcOrd="0" destOrd="0" presId="urn:microsoft.com/office/officeart/2005/8/layout/hierarchy3"/>
    <dgm:cxn modelId="{9EA6FECE-374E-481E-93B5-F95E39ED1EAD}" type="presParOf" srcId="{504283D3-5452-4CB7-AF21-190AE379E8B5}" destId="{E1CCADD0-E155-4F58-BC4F-FAEDC66DFF0F}" srcOrd="0" destOrd="0" presId="urn:microsoft.com/office/officeart/2005/8/layout/hierarchy3"/>
    <dgm:cxn modelId="{6F5EC9F3-BBCD-4C67-BD8E-3EB899E2BFC3}" type="presParOf" srcId="{E1CCADD0-E155-4F58-BC4F-FAEDC66DFF0F}" destId="{8C0507D5-C0A4-4450-85BC-1AD72ACAFCD3}" srcOrd="0" destOrd="0" presId="urn:microsoft.com/office/officeart/2005/8/layout/hierarchy3"/>
    <dgm:cxn modelId="{1F2D2B61-3A67-4085-8420-9A04C83721FC}" type="presParOf" srcId="{8C0507D5-C0A4-4450-85BC-1AD72ACAFCD3}" destId="{205D8D73-9598-4004-AA2E-01C00D7104CA}" srcOrd="0" destOrd="0" presId="urn:microsoft.com/office/officeart/2005/8/layout/hierarchy3"/>
    <dgm:cxn modelId="{EC92893F-47AF-499D-854E-2FEE44A975EB}" type="presParOf" srcId="{8C0507D5-C0A4-4450-85BC-1AD72ACAFCD3}" destId="{5E107DC4-420E-4BF0-85C4-EB7238D92F34}" srcOrd="1" destOrd="0" presId="urn:microsoft.com/office/officeart/2005/8/layout/hierarchy3"/>
    <dgm:cxn modelId="{C503CABA-5501-42B4-8722-B7A27B388CFE}" type="presParOf" srcId="{E1CCADD0-E155-4F58-BC4F-FAEDC66DFF0F}" destId="{0726C838-AEC6-4AA9-B634-D9791E20BC2B}" srcOrd="1" destOrd="0" presId="urn:microsoft.com/office/officeart/2005/8/layout/hierarchy3"/>
    <dgm:cxn modelId="{AB1A6E6B-B495-4ED4-BE71-3D420A5CE640}" type="presParOf" srcId="{0726C838-AEC6-4AA9-B634-D9791E20BC2B}" destId="{52836DA0-52E2-4E2E-945B-37571F7D2435}" srcOrd="0" destOrd="0" presId="urn:microsoft.com/office/officeart/2005/8/layout/hierarchy3"/>
    <dgm:cxn modelId="{162D4043-7060-48E0-9346-2A722CB49A0D}" type="presParOf" srcId="{0726C838-AEC6-4AA9-B634-D9791E20BC2B}" destId="{C8364BAA-84EA-476E-AC7F-F8FE8388C363}" srcOrd="1" destOrd="0" presId="urn:microsoft.com/office/officeart/2005/8/layout/hierarchy3"/>
    <dgm:cxn modelId="{D9B6E1DB-6289-41CB-8A68-BECC32B734CF}" type="presParOf" srcId="{0726C838-AEC6-4AA9-B634-D9791E20BC2B}" destId="{A3F03195-644C-4394-8B44-CCFA6989E23B}" srcOrd="2" destOrd="0" presId="urn:microsoft.com/office/officeart/2005/8/layout/hierarchy3"/>
    <dgm:cxn modelId="{1D5FBB43-4042-4C72-8A3F-DD4D828104DE}" type="presParOf" srcId="{0726C838-AEC6-4AA9-B634-D9791E20BC2B}" destId="{372ED849-BA4F-49AC-832E-108F2C3ECA78}" srcOrd="3" destOrd="0" presId="urn:microsoft.com/office/officeart/2005/8/layout/hierarchy3"/>
    <dgm:cxn modelId="{75E0A050-019C-49EE-9A26-5F7193E17186}" type="presParOf" srcId="{0726C838-AEC6-4AA9-B634-D9791E20BC2B}" destId="{52E31520-22D9-4807-A1DD-F05CF7C08CE8}" srcOrd="4" destOrd="0" presId="urn:microsoft.com/office/officeart/2005/8/layout/hierarchy3"/>
    <dgm:cxn modelId="{AD066A3C-3525-4F1B-A612-EDB06100D9E6}" type="presParOf" srcId="{0726C838-AEC6-4AA9-B634-D9791E20BC2B}" destId="{FEB7A589-5440-4CC0-A2D3-502477178F8E}" srcOrd="5" destOrd="0" presId="urn:microsoft.com/office/officeart/2005/8/layout/hierarchy3"/>
    <dgm:cxn modelId="{05B5C18D-AF81-49A1-82BF-AA6565E514C1}" type="presParOf" srcId="{0726C838-AEC6-4AA9-B634-D9791E20BC2B}" destId="{FBA1F9BD-ED0D-4833-ADB2-2D21FE4EBE93}" srcOrd="6" destOrd="0" presId="urn:microsoft.com/office/officeart/2005/8/layout/hierarchy3"/>
    <dgm:cxn modelId="{29F906B1-5E78-4B79-A7CA-7CC95D6FF911}" type="presParOf" srcId="{0726C838-AEC6-4AA9-B634-D9791E20BC2B}" destId="{0691E52D-F037-42D6-AC19-44DCD74285E4}" srcOrd="7" destOrd="0" presId="urn:microsoft.com/office/officeart/2005/8/layout/hierarchy3"/>
    <dgm:cxn modelId="{0C0247DA-DD3F-4ADF-99A4-A91BEE95072C}" type="presParOf" srcId="{504283D3-5452-4CB7-AF21-190AE379E8B5}" destId="{7CBFC237-C818-47B6-8140-D4F91FFA6F27}" srcOrd="1" destOrd="0" presId="urn:microsoft.com/office/officeart/2005/8/layout/hierarchy3"/>
    <dgm:cxn modelId="{1CC07E04-ECE3-475A-B717-F88851B6D922}" type="presParOf" srcId="{7CBFC237-C818-47B6-8140-D4F91FFA6F27}" destId="{176800B3-B18D-4711-AB88-0DD0611EBCBE}" srcOrd="0" destOrd="0" presId="urn:microsoft.com/office/officeart/2005/8/layout/hierarchy3"/>
    <dgm:cxn modelId="{EA03521D-3424-4E76-8967-2A93A2D95A2E}" type="presParOf" srcId="{176800B3-B18D-4711-AB88-0DD0611EBCBE}" destId="{83713884-8382-4945-91FF-C0A1A564D00B}" srcOrd="0" destOrd="0" presId="urn:microsoft.com/office/officeart/2005/8/layout/hierarchy3"/>
    <dgm:cxn modelId="{64E4D806-DCAD-4A21-883A-299B3E204383}" type="presParOf" srcId="{176800B3-B18D-4711-AB88-0DD0611EBCBE}" destId="{FC2A29FC-8AAF-4D3C-B191-36B37487E9D0}" srcOrd="1" destOrd="0" presId="urn:microsoft.com/office/officeart/2005/8/layout/hierarchy3"/>
    <dgm:cxn modelId="{FB05BFC4-A9D4-4AA0-819F-8D0C189FB982}" type="presParOf" srcId="{7CBFC237-C818-47B6-8140-D4F91FFA6F27}" destId="{F244D600-00D2-4571-BDEC-DAF69BCEF80B}" srcOrd="1" destOrd="0" presId="urn:microsoft.com/office/officeart/2005/8/layout/hierarchy3"/>
    <dgm:cxn modelId="{3D293397-FB09-4DC5-97C1-8A707E74CCC1}" type="presParOf" srcId="{F244D600-00D2-4571-BDEC-DAF69BCEF80B}" destId="{C5F7D953-0301-453D-B5E5-C1B9ADE2855A}" srcOrd="0" destOrd="0" presId="urn:microsoft.com/office/officeart/2005/8/layout/hierarchy3"/>
    <dgm:cxn modelId="{542F5FCE-1CC4-4274-B0C2-F09F2EABD810}" type="presParOf" srcId="{F244D600-00D2-4571-BDEC-DAF69BCEF80B}" destId="{AB0D5C60-52E4-4720-B3FA-30CA6CE71FF1}" srcOrd="1" destOrd="0" presId="urn:microsoft.com/office/officeart/2005/8/layout/hierarchy3"/>
    <dgm:cxn modelId="{39D7EA1C-AC47-4C51-896E-36EEA309C90B}" type="presParOf" srcId="{F244D600-00D2-4571-BDEC-DAF69BCEF80B}" destId="{E94938D2-ECE9-4B8E-BDC8-BC4578AC57CE}" srcOrd="2" destOrd="0" presId="urn:microsoft.com/office/officeart/2005/8/layout/hierarchy3"/>
    <dgm:cxn modelId="{591441B4-CD60-4B61-AF18-CC779A0F7348}" type="presParOf" srcId="{F244D600-00D2-4571-BDEC-DAF69BCEF80B}" destId="{4A806753-4368-4C2B-BE1B-8CB5FDA5F396}" srcOrd="3" destOrd="0" presId="urn:microsoft.com/office/officeart/2005/8/layout/hierarchy3"/>
    <dgm:cxn modelId="{E9602FFC-33EE-42EF-94D0-BCFF9EC91399}" type="presParOf" srcId="{F244D600-00D2-4571-BDEC-DAF69BCEF80B}" destId="{CFDCCACC-DE49-475C-B84B-6EBF04F5F2A3}" srcOrd="4" destOrd="0" presId="urn:microsoft.com/office/officeart/2005/8/layout/hierarchy3"/>
    <dgm:cxn modelId="{5B69ECE3-857B-4AA0-8B91-B43DBD16732F}" type="presParOf" srcId="{F244D600-00D2-4571-BDEC-DAF69BCEF80B}" destId="{4BE88947-0E81-46B9-99D9-0F78E3DA3587}" srcOrd="5" destOrd="0" presId="urn:microsoft.com/office/officeart/2005/8/layout/hierarchy3"/>
    <dgm:cxn modelId="{ED067796-EEA9-4C0F-B0BA-E1DD497C63F0}" type="presParOf" srcId="{F244D600-00D2-4571-BDEC-DAF69BCEF80B}" destId="{90C76AF3-B990-480B-B5E0-3D7C2FAC84E5}" srcOrd="6" destOrd="0" presId="urn:microsoft.com/office/officeart/2005/8/layout/hierarchy3"/>
    <dgm:cxn modelId="{2E100167-D78E-4B0D-BE6C-DADF235921FB}" type="presParOf" srcId="{F244D600-00D2-4571-BDEC-DAF69BCEF80B}" destId="{FFFC1C88-F897-46AC-847B-CA6CAE0ED458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5D8D73-9598-4004-AA2E-01C00D7104CA}">
      <dsp:nvSpPr>
        <dsp:cNvPr id="0" name=""/>
        <dsp:cNvSpPr/>
      </dsp:nvSpPr>
      <dsp:spPr>
        <a:xfrm>
          <a:off x="2777" y="190521"/>
          <a:ext cx="1579687" cy="7898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 dirty="0"/>
            <a:t>Impact</a:t>
          </a:r>
        </a:p>
      </dsp:txBody>
      <dsp:txXfrm>
        <a:off x="25911" y="213655"/>
        <a:ext cx="1533419" cy="743575"/>
      </dsp:txXfrm>
    </dsp:sp>
    <dsp:sp modelId="{52836DA0-52E2-4E2E-945B-37571F7D2435}">
      <dsp:nvSpPr>
        <dsp:cNvPr id="0" name=""/>
        <dsp:cNvSpPr/>
      </dsp:nvSpPr>
      <dsp:spPr>
        <a:xfrm>
          <a:off x="160746" y="980365"/>
          <a:ext cx="157968" cy="592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2382"/>
              </a:lnTo>
              <a:lnTo>
                <a:pt x="157968" y="5923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364BAA-84EA-476E-AC7F-F8FE8388C363}">
      <dsp:nvSpPr>
        <dsp:cNvPr id="0" name=""/>
        <dsp:cNvSpPr/>
      </dsp:nvSpPr>
      <dsp:spPr>
        <a:xfrm>
          <a:off x="318715" y="1177826"/>
          <a:ext cx="2926516" cy="7898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UAV operators:</a:t>
          </a:r>
          <a:r>
            <a:rPr lang="en-IN" sz="1600" kern="1200" dirty="0"/>
            <a:t> Real-time visibility of engine health, faults and mission reliability.</a:t>
          </a:r>
        </a:p>
      </dsp:txBody>
      <dsp:txXfrm>
        <a:off x="341849" y="1200960"/>
        <a:ext cx="2880248" cy="743575"/>
      </dsp:txXfrm>
    </dsp:sp>
    <dsp:sp modelId="{A3F03195-644C-4394-8B44-CCFA6989E23B}">
      <dsp:nvSpPr>
        <dsp:cNvPr id="0" name=""/>
        <dsp:cNvSpPr/>
      </dsp:nvSpPr>
      <dsp:spPr>
        <a:xfrm>
          <a:off x="160746" y="980365"/>
          <a:ext cx="157968" cy="1579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9687"/>
              </a:lnTo>
              <a:lnTo>
                <a:pt x="157968" y="157968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2ED849-BA4F-49AC-832E-108F2C3ECA78}">
      <dsp:nvSpPr>
        <dsp:cNvPr id="0" name=""/>
        <dsp:cNvSpPr/>
      </dsp:nvSpPr>
      <dsp:spPr>
        <a:xfrm>
          <a:off x="318715" y="2165131"/>
          <a:ext cx="2976662" cy="7898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Maintenance teams: </a:t>
          </a:r>
          <a:r>
            <a:rPr lang="en-IN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Early fault detection and predictive maintenance advisories.</a:t>
          </a:r>
        </a:p>
      </dsp:txBody>
      <dsp:txXfrm>
        <a:off x="341849" y="2188265"/>
        <a:ext cx="2930394" cy="743575"/>
      </dsp:txXfrm>
    </dsp:sp>
    <dsp:sp modelId="{52E31520-22D9-4807-A1DD-F05CF7C08CE8}">
      <dsp:nvSpPr>
        <dsp:cNvPr id="0" name=""/>
        <dsp:cNvSpPr/>
      </dsp:nvSpPr>
      <dsp:spPr>
        <a:xfrm>
          <a:off x="160746" y="980365"/>
          <a:ext cx="157968" cy="25669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66992"/>
              </a:lnTo>
              <a:lnTo>
                <a:pt x="157968" y="256699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B7A589-5440-4CC0-A2D3-502477178F8E}">
      <dsp:nvSpPr>
        <dsp:cNvPr id="0" name=""/>
        <dsp:cNvSpPr/>
      </dsp:nvSpPr>
      <dsp:spPr>
        <a:xfrm>
          <a:off x="318715" y="3152435"/>
          <a:ext cx="2966109" cy="7898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Fleet managers: </a:t>
          </a:r>
          <a:r>
            <a:rPr lang="en-IN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Fleet-wide health tracking and post-flight analysis.</a:t>
          </a:r>
        </a:p>
      </dsp:txBody>
      <dsp:txXfrm>
        <a:off x="341849" y="3175569"/>
        <a:ext cx="2919841" cy="743575"/>
      </dsp:txXfrm>
    </dsp:sp>
    <dsp:sp modelId="{FBA1F9BD-ED0D-4833-ADB2-2D21FE4EBE93}">
      <dsp:nvSpPr>
        <dsp:cNvPr id="0" name=""/>
        <dsp:cNvSpPr/>
      </dsp:nvSpPr>
      <dsp:spPr>
        <a:xfrm>
          <a:off x="160746" y="980365"/>
          <a:ext cx="157968" cy="3703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03577"/>
              </a:lnTo>
              <a:lnTo>
                <a:pt x="157968" y="370357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91E52D-F037-42D6-AC19-44DCD74285E4}">
      <dsp:nvSpPr>
        <dsp:cNvPr id="0" name=""/>
        <dsp:cNvSpPr/>
      </dsp:nvSpPr>
      <dsp:spPr>
        <a:xfrm>
          <a:off x="318715" y="4139740"/>
          <a:ext cx="2912867" cy="10884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Defence organizations: </a:t>
          </a:r>
          <a:r>
            <a:rPr lang="en-IN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Improved mission readiness and reduced risk of engine-related mission failure.</a:t>
          </a:r>
        </a:p>
      </dsp:txBody>
      <dsp:txXfrm>
        <a:off x="350593" y="4171618"/>
        <a:ext cx="2849111" cy="1024648"/>
      </dsp:txXfrm>
    </dsp:sp>
    <dsp:sp modelId="{83713884-8382-4945-91FF-C0A1A564D00B}">
      <dsp:nvSpPr>
        <dsp:cNvPr id="0" name=""/>
        <dsp:cNvSpPr/>
      </dsp:nvSpPr>
      <dsp:spPr>
        <a:xfrm>
          <a:off x="3374361" y="190521"/>
          <a:ext cx="1579687" cy="7898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 dirty="0"/>
            <a:t>Benefits </a:t>
          </a:r>
        </a:p>
      </dsp:txBody>
      <dsp:txXfrm>
        <a:off x="3397495" y="213655"/>
        <a:ext cx="1533419" cy="743575"/>
      </dsp:txXfrm>
    </dsp:sp>
    <dsp:sp modelId="{C5F7D953-0301-453D-B5E5-C1B9ADE2855A}">
      <dsp:nvSpPr>
        <dsp:cNvPr id="0" name=""/>
        <dsp:cNvSpPr/>
      </dsp:nvSpPr>
      <dsp:spPr>
        <a:xfrm>
          <a:off x="3532330" y="980365"/>
          <a:ext cx="157968" cy="592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2382"/>
              </a:lnTo>
              <a:lnTo>
                <a:pt x="157968" y="5923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0D5C60-52E4-4720-B3FA-30CA6CE71FF1}">
      <dsp:nvSpPr>
        <dsp:cNvPr id="0" name=""/>
        <dsp:cNvSpPr/>
      </dsp:nvSpPr>
      <dsp:spPr>
        <a:xfrm>
          <a:off x="3690299" y="1177826"/>
          <a:ext cx="3022422" cy="7898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Safety: </a:t>
          </a:r>
          <a:r>
            <a:rPr lang="en-IN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Detects anomalies and predicts potential failures before critical conditions.</a:t>
          </a:r>
        </a:p>
      </dsp:txBody>
      <dsp:txXfrm>
        <a:off x="3713433" y="1200960"/>
        <a:ext cx="2976154" cy="743575"/>
      </dsp:txXfrm>
    </dsp:sp>
    <dsp:sp modelId="{E94938D2-ECE9-4B8E-BDC8-BC4578AC57CE}">
      <dsp:nvSpPr>
        <dsp:cNvPr id="0" name=""/>
        <dsp:cNvSpPr/>
      </dsp:nvSpPr>
      <dsp:spPr>
        <a:xfrm>
          <a:off x="3532330" y="980365"/>
          <a:ext cx="157968" cy="1579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9687"/>
              </a:lnTo>
              <a:lnTo>
                <a:pt x="157968" y="157968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806753-4368-4C2B-BE1B-8CB5FDA5F396}">
      <dsp:nvSpPr>
        <dsp:cNvPr id="0" name=""/>
        <dsp:cNvSpPr/>
      </dsp:nvSpPr>
      <dsp:spPr>
        <a:xfrm>
          <a:off x="3690299" y="2165131"/>
          <a:ext cx="3062495" cy="7898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Economic: </a:t>
          </a:r>
          <a:r>
            <a:rPr lang="en-IN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Reduces unscheduled maintenance, downtime and component replacement costs.</a:t>
          </a:r>
        </a:p>
      </dsp:txBody>
      <dsp:txXfrm>
        <a:off x="3713433" y="2188265"/>
        <a:ext cx="3016227" cy="743575"/>
      </dsp:txXfrm>
    </dsp:sp>
    <dsp:sp modelId="{CFDCCACC-DE49-475C-B84B-6EBF04F5F2A3}">
      <dsp:nvSpPr>
        <dsp:cNvPr id="0" name=""/>
        <dsp:cNvSpPr/>
      </dsp:nvSpPr>
      <dsp:spPr>
        <a:xfrm>
          <a:off x="3532330" y="980365"/>
          <a:ext cx="119247" cy="26419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41960"/>
              </a:lnTo>
              <a:lnTo>
                <a:pt x="119247" y="264196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E88947-0E81-46B9-99D9-0F78E3DA3587}">
      <dsp:nvSpPr>
        <dsp:cNvPr id="0" name=""/>
        <dsp:cNvSpPr/>
      </dsp:nvSpPr>
      <dsp:spPr>
        <a:xfrm>
          <a:off x="3651578" y="3153225"/>
          <a:ext cx="3089312" cy="938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Predictive Maintenance: </a:t>
          </a:r>
          <a:r>
            <a:rPr lang="en-IN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Uses degradation trends and RUL estimation to support condition-based maintenance.</a:t>
          </a:r>
        </a:p>
      </dsp:txBody>
      <dsp:txXfrm>
        <a:off x="3679057" y="3180704"/>
        <a:ext cx="3034354" cy="883242"/>
      </dsp:txXfrm>
    </dsp:sp>
    <dsp:sp modelId="{90C76AF3-B990-480B-B5E0-3D7C2FAC84E5}">
      <dsp:nvSpPr>
        <dsp:cNvPr id="0" name=""/>
        <dsp:cNvSpPr/>
      </dsp:nvSpPr>
      <dsp:spPr>
        <a:xfrm>
          <a:off x="3532330" y="980365"/>
          <a:ext cx="157968" cy="37026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02653"/>
              </a:lnTo>
              <a:lnTo>
                <a:pt x="157968" y="370265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FC1C88-F897-46AC-847B-CA6CAE0ED458}">
      <dsp:nvSpPr>
        <dsp:cNvPr id="0" name=""/>
        <dsp:cNvSpPr/>
      </dsp:nvSpPr>
      <dsp:spPr>
        <a:xfrm>
          <a:off x="3690299" y="4288096"/>
          <a:ext cx="2999801" cy="7898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Scalability: </a:t>
          </a:r>
          <a:r>
            <a:rPr lang="en-IN" sz="16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Can be extended across multiple UAVs, missions and engine configurations.</a:t>
          </a:r>
        </a:p>
      </dsp:txBody>
      <dsp:txXfrm>
        <a:off x="3713433" y="4311230"/>
        <a:ext cx="2953533" cy="7435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DA034-B414-4EE1-BDB1-3E29C4B65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31378342-6AD8-312D-52E7-07B85F3D4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2C5E4D8E-7C21-223E-2C9C-CF93682800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D107EDA3-C2B9-33DC-5102-8CD964802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80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6737A-7390-7543-806E-74E8468A6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EFAFBC2-61E2-62A8-EE97-07A9B4AC4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326B22E4-BC00-B065-2947-981ACCF52D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13D2C795-4916-75FF-20D5-D458B0877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57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E21C4-DB6E-174C-1F4F-B2A84294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180409C4-374E-6513-3306-DB4CB4413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97F7247A-93C3-8BBF-584E-45A84F5723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34674A8E-7D41-4EB8-04C4-F273F62D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608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5ED1A-44A5-22A7-36A6-1267D29E9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B46E57CB-8FC6-90C6-A70E-A1F2CABFA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1AC098F1-61B3-A24D-FACA-AAD9F8E8FA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C5C1E13-7AD0-D7F2-3B82-4B2724210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1044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youtu.be/cOoKwAEKh68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github.com/VIKASHL25/SIH-26.gi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jpe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2.pn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9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python/microservice-in-python-using-fastapi/" TargetMode="External"/><Relationship Id="rId13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hyperlink" Target="https://fastapi.tiangolo.com/" TargetMode="External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rdo.gov.in/drdo/sites/default/files/technology-focus-documrnt/TF_MayJune2025.pdf" TargetMode="External"/><Relationship Id="rId11" Type="http://schemas.openxmlformats.org/officeDocument/2006/relationships/image" Target="../media/image3.png"/><Relationship Id="rId5" Type="http://schemas.openxmlformats.org/officeDocument/2006/relationships/hyperlink" Target="https://www.researchgate.net/publication/334755025_Study_of_Fuel-Controlled_Aircraft_Engine_for_Fuel-Powered_Unmanned_Aerial_Vehicle_Energy_Conversion_Analysis_and_Optimization" TargetMode="External"/><Relationship Id="rId15" Type="http://schemas.openxmlformats.org/officeDocument/2006/relationships/hyperlink" Target="https://docs.google.com/document/d/1xzbdyT_N0fEHWM2PU9c9ufs9rUApolBxli3l6wi9GPA/edit?usp=sharing" TargetMode="External"/><Relationship Id="rId10" Type="http://schemas.openxmlformats.org/officeDocument/2006/relationships/hyperlink" Target="https://github.com/VIKASHL25/SIH-26.git" TargetMode="External"/><Relationship Id="rId4" Type="http://schemas.openxmlformats.org/officeDocument/2006/relationships/hyperlink" Target="https://www.cambridge.org/core/journals/aeronautical-journal/article/abs/an-improved-deep-autoencoder-framework-for-aviation-piston-engine-unsupervised-anomaly-detection-considering-the-reallife-data-characteristics/5CEDFA8C7CA73DC4984E00EEE760AF63" TargetMode="External"/><Relationship Id="rId9" Type="http://schemas.openxmlformats.org/officeDocument/2006/relationships/hyperlink" Target="https://docs.google.com/document/d/15QdpwO-tCGi3pZHICA6UchYwqBkNEtIzdZkhxCg0lww/edit?usp=sharing" TargetMode="External"/><Relationship Id="rId14" Type="http://schemas.openxmlformats.org/officeDocument/2006/relationships/hyperlink" Target="https://youtu.be/cOoKwAEKh6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693630" y="176761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222849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9572" y="1230980"/>
            <a:ext cx="7616137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26054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AI-Enabled Real-Time Digital Twin System for Health Monitoring, Fault Prediction and Mission Reliability Enhancement of Aero Piston Engines used in MALE UAVs</a:t>
            </a:r>
            <a:r>
              <a:rPr lang="en-IN" dirty="0"/>
              <a:t>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Robotics and Drones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Innovexa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8FD54D-1B83-8005-068C-FEF8ECE73646}"/>
              </a:ext>
            </a:extLst>
          </p:cNvPr>
          <p:cNvSpPr txBox="1"/>
          <p:nvPr/>
        </p:nvSpPr>
        <p:spPr>
          <a:xfrm>
            <a:off x="8911110" y="6032560"/>
            <a:ext cx="2768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hlinkClick r:id="rId4"/>
              </a:rPr>
              <a:t>Git Repository</a:t>
            </a:r>
            <a:endParaRPr lang="en-IN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A018A9-643A-981C-5F34-E94943645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3816" y="6109932"/>
            <a:ext cx="404081" cy="44293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D643A48-5E29-9202-CBDE-F6BD77DD3BC7}"/>
              </a:ext>
            </a:extLst>
          </p:cNvPr>
          <p:cNvSpPr txBox="1"/>
          <p:nvPr/>
        </p:nvSpPr>
        <p:spPr>
          <a:xfrm>
            <a:off x="9032821" y="5454237"/>
            <a:ext cx="2310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hlinkClick r:id="rId6"/>
              </a:rPr>
              <a:t>Demo Video</a:t>
            </a:r>
            <a:endParaRPr lang="en-IN" sz="3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D36F3C-4B01-BA53-5522-4A97CD1954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3816" y="5652658"/>
            <a:ext cx="379099" cy="2790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545713" y="136522"/>
            <a:ext cx="8358783" cy="671987"/>
          </a:xfrm>
        </p:spPr>
        <p:txBody>
          <a:bodyPr/>
          <a:lstStyle/>
          <a:p>
            <a:pPr eaLnBrk="1" hangingPunct="1"/>
            <a:b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AI-Enabled Real-Time Digital Twin System for Health Monitoring, Fault Prediction and Mission Reliability Enhancement of Aero Piston Engines used in MALE UAVs.</a:t>
            </a:r>
            <a:br>
              <a:rPr lang="en-IN" sz="3600" dirty="0"/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8491" y="78797"/>
            <a:ext cx="158163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Innovexa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8846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0460A4-E3FC-A2AB-12CB-50643567D181}"/>
              </a:ext>
            </a:extLst>
          </p:cNvPr>
          <p:cNvSpPr txBox="1"/>
          <p:nvPr/>
        </p:nvSpPr>
        <p:spPr>
          <a:xfrm>
            <a:off x="88491" y="2790750"/>
            <a:ext cx="7386197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N" sz="1600" b="1" dirty="0"/>
              <a:t>Proposed Solution:</a:t>
            </a:r>
          </a:p>
          <a:p>
            <a:pPr algn="just"/>
            <a:r>
              <a:rPr lang="en-IN" sz="1600" dirty="0"/>
              <a:t>A real-time, physics-informed Digital Twin synchronizing CAN/ECU telemetry with a virtual engine state for anomaly, fault, degradation and RUL prediction. </a:t>
            </a:r>
            <a:r>
              <a:rPr lang="en-IN" sz="1600" dirty="0" err="1"/>
              <a:t>TreeSHAP</a:t>
            </a:r>
            <a:r>
              <a:rPr lang="en-IN" sz="1600" dirty="0"/>
              <a:t> + counterfactual XAI provides root-cause explanations and maintenance advisories, while the React GCS dashboard delivers real-time health, telemetry, faults, RUL and mission visualization.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412987-1514-3FB6-9A6A-E84919F72D94}"/>
              </a:ext>
            </a:extLst>
          </p:cNvPr>
          <p:cNvSpPr txBox="1"/>
          <p:nvPr/>
        </p:nvSpPr>
        <p:spPr>
          <a:xfrm>
            <a:off x="7655442" y="1313422"/>
            <a:ext cx="4261890" cy="45243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/>
              <a:t>Innovation &amp; Uniqueness</a:t>
            </a:r>
          </a:p>
          <a:p>
            <a:pPr algn="just">
              <a:buNone/>
            </a:pPr>
            <a:endParaRPr lang="en-IN" sz="1600" b="1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 b="1" dirty="0"/>
              <a:t>Physics + AI Digital Twin</a:t>
            </a:r>
            <a:r>
              <a:rPr lang="en-IN" sz="1600" dirty="0"/>
              <a:t> — thermodynamic residuals + temporal features for context-aware engine health estimation.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 b="1" dirty="0"/>
              <a:t>End-to-End Prognostics</a:t>
            </a:r>
            <a:r>
              <a:rPr lang="en-IN" sz="1600" dirty="0"/>
              <a:t> — </a:t>
            </a:r>
            <a:r>
              <a:rPr lang="en-IN" sz="1600" b="1" dirty="0"/>
              <a:t>Anomaly → Fault → Degradation → RUL</a:t>
            </a:r>
            <a:r>
              <a:rPr lang="en-IN" sz="1600" dirty="0"/>
              <a:t> with uncertainty bounds.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 b="1" dirty="0"/>
              <a:t>Explainable AI</a:t>
            </a:r>
            <a:r>
              <a:rPr lang="en-IN" sz="1600" dirty="0"/>
              <a:t> — </a:t>
            </a:r>
            <a:r>
              <a:rPr lang="en-IN" sz="1600" b="1" dirty="0" err="1"/>
              <a:t>TreeSHAP</a:t>
            </a:r>
            <a:r>
              <a:rPr lang="en-IN" sz="1600" b="1" dirty="0"/>
              <a:t> + Counterfactuals</a:t>
            </a:r>
            <a:r>
              <a:rPr lang="en-IN" sz="1600" dirty="0"/>
              <a:t> for sensor-level root-cause attribution and maintenance advisories.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 b="1" dirty="0"/>
              <a:t>What-If &amp; Mission Replay</a:t>
            </a:r>
            <a:r>
              <a:rPr lang="en-IN" sz="1600" dirty="0"/>
              <a:t> — real-time fault injection, simulation and historical mission playback for diagnostic validation.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 b="1" dirty="0"/>
              <a:t>GCS-Ready Architecture</a:t>
            </a:r>
            <a:r>
              <a:rPr lang="en-IN" sz="1600" dirty="0"/>
              <a:t> — </a:t>
            </a:r>
            <a:r>
              <a:rPr lang="en-IN" sz="1600" b="1" dirty="0"/>
              <a:t>CAN 2.0B/DBC + </a:t>
            </a:r>
            <a:r>
              <a:rPr lang="en-IN" sz="1600" b="1" dirty="0" err="1"/>
              <a:t>FastAPI</a:t>
            </a:r>
            <a:r>
              <a:rPr lang="en-IN" sz="1600" b="1" dirty="0"/>
              <a:t>/</a:t>
            </a:r>
            <a:r>
              <a:rPr lang="en-IN" sz="1600" b="1" dirty="0" err="1"/>
              <a:t>WebSockets</a:t>
            </a:r>
            <a:r>
              <a:rPr lang="en-IN" sz="1600" b="1" dirty="0"/>
              <a:t> + MongoDB + React GCS</a:t>
            </a:r>
            <a:r>
              <a:rPr lang="en-IN" sz="1600" dirty="0"/>
              <a:t>, enabling real-time telemetry, analytics and visualization.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D43ABD-052F-7262-981F-A7CA167B82FB}"/>
              </a:ext>
            </a:extLst>
          </p:cNvPr>
          <p:cNvSpPr txBox="1"/>
          <p:nvPr/>
        </p:nvSpPr>
        <p:spPr>
          <a:xfrm>
            <a:off x="88491" y="4559652"/>
            <a:ext cx="7386197" cy="164660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b="1" dirty="0"/>
              <a:t>Resolving the issue:</a:t>
            </a:r>
          </a:p>
          <a:p>
            <a:endParaRPr lang="en-IN" sz="500" b="1" dirty="0"/>
          </a:p>
          <a:p>
            <a:r>
              <a:rPr lang="en-IN" sz="1600" dirty="0"/>
              <a:t>CAN Telemetry → Physics Residuals → Anomaly → Fault → Degradation → RUL → XAI → Maintenance Advisory</a:t>
            </a:r>
          </a:p>
          <a:p>
            <a:r>
              <a:rPr lang="en-IN" sz="1600" dirty="0"/>
              <a:t>Enables </a:t>
            </a:r>
            <a:r>
              <a:rPr lang="en-IN" sz="1600" b="1" dirty="0"/>
              <a:t>real-time monitoring, mission replay, fault injection, simulation, and historical health analysis</a:t>
            </a:r>
            <a:r>
              <a:rPr lang="en-IN" sz="1600" dirty="0"/>
              <a:t> through the integrated </a:t>
            </a:r>
            <a:r>
              <a:rPr lang="en-IN" sz="1600" b="1" dirty="0"/>
              <a:t>WebSocket + MongoDB + React GCS</a:t>
            </a:r>
            <a:r>
              <a:rPr lang="en-IN" sz="1600" dirty="0"/>
              <a:t> architecture.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2C3283-930F-05BA-DA76-3C323CEB120D}"/>
              </a:ext>
            </a:extLst>
          </p:cNvPr>
          <p:cNvSpPr txBox="1"/>
          <p:nvPr/>
        </p:nvSpPr>
        <p:spPr>
          <a:xfrm>
            <a:off x="88491" y="1056543"/>
            <a:ext cx="7386197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N" sz="1600" b="1" dirty="0"/>
              <a:t>Problem Statement Description:</a:t>
            </a:r>
          </a:p>
          <a:p>
            <a:pPr algn="just"/>
            <a:r>
              <a:rPr lang="en-IN" sz="1600" dirty="0"/>
              <a:t>Develop an AI-enabled real-time Digital Twin for health monitoring, fault prediction, and Remaining Useful Life (RUL) estimation of aero piston engines used in MALE </a:t>
            </a:r>
            <a:r>
              <a:rPr lang="en-IN" sz="1600" dirty="0" err="1"/>
              <a:t>UAVs.The</a:t>
            </a:r>
            <a:r>
              <a:rPr lang="en-IN" sz="1600" dirty="0"/>
              <a:t> system should combine live engine telemetry, anomaly/fault detection, degradation tracking, and predictive maintenance to improve engine reliability, mission readiness, and operational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91581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METHODOLOGY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8490" y="60855"/>
            <a:ext cx="158162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Innovexa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2249850" cy="9260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F7A24B-1421-5C67-159F-D735E9AA403F}"/>
              </a:ext>
            </a:extLst>
          </p:cNvPr>
          <p:cNvSpPr txBox="1"/>
          <p:nvPr/>
        </p:nvSpPr>
        <p:spPr>
          <a:xfrm>
            <a:off x="3421321" y="804656"/>
            <a:ext cx="53162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Architecture Diagram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D3B1E9-8138-7F0D-DEC5-A56EF3A20AF9}"/>
              </a:ext>
            </a:extLst>
          </p:cNvPr>
          <p:cNvSpPr txBox="1"/>
          <p:nvPr/>
        </p:nvSpPr>
        <p:spPr>
          <a:xfrm>
            <a:off x="6273478" y="4279916"/>
            <a:ext cx="6273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745369-B9F5-06E6-27CC-453A7CB608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659" b="7315"/>
          <a:stretch>
            <a:fillRect/>
          </a:stretch>
        </p:blipFill>
        <p:spPr>
          <a:xfrm>
            <a:off x="0" y="1332263"/>
            <a:ext cx="12191999" cy="48414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9C37C-0113-9E68-5962-FF7561C68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19A8BD-2FDE-6B44-D5F0-ED8C00725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A478EF99-E471-1B0F-51AE-EAD1E6A57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91581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METHODOLOGY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D026C-EA3B-D558-FDA6-6B228549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25233A9-AA9D-DC04-B089-2A621CE1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0E136208-B81C-734D-989C-F59EE703AA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8490" y="60855"/>
            <a:ext cx="158162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Innovexa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12CBAD-5070-B952-26A3-FC447C34B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2249850" cy="926042"/>
          </a:xfrm>
          <a:prstGeom prst="rect">
            <a:avLst/>
          </a:prstGeom>
        </p:spPr>
      </p:pic>
      <p:pic>
        <p:nvPicPr>
          <p:cNvPr id="5" name="Picture 4" descr="Python - free Icon PNG, SVG">
            <a:extLst>
              <a:ext uri="{FF2B5EF4-FFF2-40B4-BE49-F238E27FC236}">
                <a16:creationId xmlns:a16="http://schemas.microsoft.com/office/drawing/2014/main" id="{A924EC0C-0F17-5F43-53DA-8B552EDA8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89" y="5766876"/>
            <a:ext cx="942756" cy="503238"/>
          </a:xfrm>
          <a:prstGeom prst="rect">
            <a:avLst/>
          </a:prstGeom>
        </p:spPr>
      </p:pic>
      <p:pic>
        <p:nvPicPr>
          <p:cNvPr id="8" name="Picture 7" descr="Fastapi png images | PNGWing">
            <a:extLst>
              <a:ext uri="{FF2B5EF4-FFF2-40B4-BE49-F238E27FC236}">
                <a16:creationId xmlns:a16="http://schemas.microsoft.com/office/drawing/2014/main" id="{079A9E07-43DA-3B42-D5AA-25D8B32AF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5496" y="5745599"/>
            <a:ext cx="728922" cy="4991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6FB76E-110E-9AF7-75D8-8E2949D543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016" y="5768918"/>
            <a:ext cx="813983" cy="4991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0FE029E-40D0-A66E-EBC8-3F195B5CB0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6209" y="5741515"/>
            <a:ext cx="965695" cy="503238"/>
          </a:xfrm>
          <a:prstGeom prst="rect">
            <a:avLst/>
          </a:prstGeom>
        </p:spPr>
      </p:pic>
      <p:pic>
        <p:nvPicPr>
          <p:cNvPr id="20" name="Picture 19" descr="Formation XGBoost – Ambient IT">
            <a:extLst>
              <a:ext uri="{FF2B5EF4-FFF2-40B4-BE49-F238E27FC236}">
                <a16:creationId xmlns:a16="http://schemas.microsoft.com/office/drawing/2014/main" id="{8ED72401-C9F0-8480-6381-3F4C3C2FA4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7914" y="5837758"/>
            <a:ext cx="1499192" cy="503238"/>
          </a:xfrm>
          <a:prstGeom prst="rect">
            <a:avLst/>
          </a:prstGeom>
        </p:spPr>
      </p:pic>
      <p:pic>
        <p:nvPicPr>
          <p:cNvPr id="21" name="Picture 20" descr="GitHub - shap/shap: A game theoretic approach to explain the output of any  machine learning model. · GitHub">
            <a:extLst>
              <a:ext uri="{FF2B5EF4-FFF2-40B4-BE49-F238E27FC236}">
                <a16:creationId xmlns:a16="http://schemas.microsoft.com/office/drawing/2014/main" id="{B7696AEC-042B-01E8-A884-AEFED80E67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6509" y="5741515"/>
            <a:ext cx="942756" cy="54026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C9D6842-2FF9-811A-3869-F0122F579B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8475" y="5741515"/>
            <a:ext cx="947241" cy="55396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5F99171-09F2-8997-D623-D05B8352AB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0787" y="5639414"/>
            <a:ext cx="1187863" cy="801761"/>
          </a:xfrm>
          <a:prstGeom prst="rect">
            <a:avLst/>
          </a:prstGeom>
        </p:spPr>
      </p:pic>
      <p:pic>
        <p:nvPicPr>
          <p:cNvPr id="26" name="Picture 25" descr="File:CAN Logo.jpg - Wikimedia Commons">
            <a:extLst>
              <a:ext uri="{FF2B5EF4-FFF2-40B4-BE49-F238E27FC236}">
                <a16:creationId xmlns:a16="http://schemas.microsoft.com/office/drawing/2014/main" id="{60869B1F-90E2-B635-EDF1-08E496590B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06056" y="5913857"/>
            <a:ext cx="1666755" cy="39518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A67F394-05BC-7F37-B0F1-58FB1FD88237}"/>
              </a:ext>
            </a:extLst>
          </p:cNvPr>
          <p:cNvSpPr txBox="1"/>
          <p:nvPr/>
        </p:nvSpPr>
        <p:spPr>
          <a:xfrm>
            <a:off x="-1448327" y="5167717"/>
            <a:ext cx="6094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/>
              <a:t>Technology Stack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51CAD9-8D6C-1505-9CF3-35E3D0C2A71E}"/>
              </a:ext>
            </a:extLst>
          </p:cNvPr>
          <p:cNvSpPr txBox="1"/>
          <p:nvPr/>
        </p:nvSpPr>
        <p:spPr>
          <a:xfrm>
            <a:off x="6273478" y="4279916"/>
            <a:ext cx="6273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A97F67-FE71-89A8-D6A3-394645507B6A}"/>
              </a:ext>
            </a:extLst>
          </p:cNvPr>
          <p:cNvSpPr txBox="1"/>
          <p:nvPr/>
        </p:nvSpPr>
        <p:spPr>
          <a:xfrm>
            <a:off x="-1004988" y="1041560"/>
            <a:ext cx="5350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/>
              <a:t>Engine Health FSM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0E2684-A713-8CFF-90E2-3EB77B228BD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4760" b="24737"/>
          <a:stretch>
            <a:fillRect/>
          </a:stretch>
        </p:blipFill>
        <p:spPr>
          <a:xfrm>
            <a:off x="212454" y="1402221"/>
            <a:ext cx="11553621" cy="377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301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28904-B505-B543-B89A-30B3CB0B7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DF2CF28-C7A2-4246-C42F-6CAAAFDCC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F2095B89-8480-2764-19EE-FA38D40DD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694198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AFF46-771A-4DE4-FC9C-D72DD37F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442139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4AB1BC5-0DEA-3672-3227-7513E4B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49287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A862E50D-6CB9-CB7E-A972-37DC884903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8490" y="60855"/>
            <a:ext cx="1581629" cy="58732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Innovexa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6B6FE7-F523-540D-202D-923010A09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2249850" cy="6466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C2AF0A-367A-AF36-9F16-2B6EB1617EA3}"/>
              </a:ext>
            </a:extLst>
          </p:cNvPr>
          <p:cNvSpPr txBox="1"/>
          <p:nvPr/>
        </p:nvSpPr>
        <p:spPr>
          <a:xfrm>
            <a:off x="4317410" y="542725"/>
            <a:ext cx="6182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Microservices Workflow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E374B9-1BAF-5002-FA71-E4DC6F3813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451" b="15666"/>
          <a:stretch>
            <a:fillRect/>
          </a:stretch>
        </p:blipFill>
        <p:spPr>
          <a:xfrm>
            <a:off x="0" y="937424"/>
            <a:ext cx="12110484" cy="51353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DAA811-BB56-B4FC-DB19-E20F97322FF0}"/>
              </a:ext>
            </a:extLst>
          </p:cNvPr>
          <p:cNvSpPr txBox="1"/>
          <p:nvPr/>
        </p:nvSpPr>
        <p:spPr>
          <a:xfrm>
            <a:off x="1286540" y="6098175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Telemetry → Secure Microservices → AI/ML Analytics → XAI → Maintenance Advisory → Cloud Storage</a:t>
            </a:r>
          </a:p>
        </p:txBody>
      </p:sp>
    </p:spTree>
    <p:extLst>
      <p:ext uri="{BB962C8B-B14F-4D97-AF65-F5344CB8AC3E}">
        <p14:creationId xmlns:p14="http://schemas.microsoft.com/office/powerpoint/2010/main" val="638668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6A473-77D5-CC8B-20E9-B7486D777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17C2633-71EE-1817-0911-CE9F59E2C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72878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E387AADE-8C73-BA7E-C48C-1481E8337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16" y="-79871"/>
            <a:ext cx="10972800" cy="656756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AC572-B509-73EC-EC32-6DAB9A5E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8DACEC3-93AF-26F1-E9BD-571BDD70A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EEC22FB0-6DAD-DC62-FF59-B62020BBD5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0209"/>
            <a:ext cx="1496570" cy="45667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Innovexa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D8BED7-684E-463E-BC97-E4506A448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4566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FD9AF9-EA73-7E1C-631C-4839D17F0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48722"/>
            <a:ext cx="4216358" cy="21430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F2BE50-7E30-14D3-36CE-8ACDCCBE6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9182"/>
            <a:ext cx="4216358" cy="2708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1CEB61-4571-4673-C6D3-2B3F5982AA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6358" y="3748722"/>
            <a:ext cx="4089400" cy="21430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80D951-DCFB-A66A-8B46-6D8DE5497E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6358" y="659182"/>
            <a:ext cx="4089400" cy="27084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9F5EBA-68E4-A68D-A1D8-570F14BDB3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5758" y="659182"/>
            <a:ext cx="3886241" cy="270848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3FBC7D2-93EB-F46F-FC1F-8039CB0A76B1}"/>
              </a:ext>
            </a:extLst>
          </p:cNvPr>
          <p:cNvSpPr txBox="1"/>
          <p:nvPr/>
        </p:nvSpPr>
        <p:spPr>
          <a:xfrm>
            <a:off x="486398" y="3305674"/>
            <a:ext cx="3370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Abnormal Vibration Detected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9926E3-C47A-9D15-44B9-112A3012031E}"/>
              </a:ext>
            </a:extLst>
          </p:cNvPr>
          <p:cNvSpPr txBox="1"/>
          <p:nvPr/>
        </p:nvSpPr>
        <p:spPr>
          <a:xfrm>
            <a:off x="4935237" y="3307483"/>
            <a:ext cx="3370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XAI Recommendations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138ABC-0ADC-3F28-8826-996534890248}"/>
              </a:ext>
            </a:extLst>
          </p:cNvPr>
          <p:cNvSpPr txBox="1"/>
          <p:nvPr/>
        </p:nvSpPr>
        <p:spPr>
          <a:xfrm>
            <a:off x="5367079" y="5829486"/>
            <a:ext cx="3370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Scenario simulator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42FEC1-DF41-51CB-B235-E76C088BD1AB}"/>
              </a:ext>
            </a:extLst>
          </p:cNvPr>
          <p:cNvSpPr txBox="1"/>
          <p:nvPr/>
        </p:nvSpPr>
        <p:spPr>
          <a:xfrm>
            <a:off x="9151595" y="5829486"/>
            <a:ext cx="3370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Fleet and Depot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29E2318-19A1-FF0C-09FB-794F0A934A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5758" y="3748722"/>
            <a:ext cx="3886241" cy="213136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3A6A3EC-044F-B502-7651-B4BF1260BEF7}"/>
              </a:ext>
            </a:extLst>
          </p:cNvPr>
          <p:cNvSpPr txBox="1"/>
          <p:nvPr/>
        </p:nvSpPr>
        <p:spPr>
          <a:xfrm>
            <a:off x="9024637" y="3305330"/>
            <a:ext cx="6262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Misfire Detected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C7FCB1-4D88-BCF7-37DD-B6F8E15DD018}"/>
              </a:ext>
            </a:extLst>
          </p:cNvPr>
          <p:cNvSpPr txBox="1"/>
          <p:nvPr/>
        </p:nvSpPr>
        <p:spPr>
          <a:xfrm>
            <a:off x="631942" y="5845176"/>
            <a:ext cx="7582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Microservices Checkpoints</a:t>
            </a:r>
          </a:p>
        </p:txBody>
      </p:sp>
    </p:spTree>
    <p:extLst>
      <p:ext uri="{BB962C8B-B14F-4D97-AF65-F5344CB8AC3E}">
        <p14:creationId xmlns:p14="http://schemas.microsoft.com/office/powerpoint/2010/main" val="3204589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6352"/>
            <a:ext cx="12191999" cy="419763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49316" y="-79871"/>
            <a:ext cx="10972800" cy="80733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0208"/>
            <a:ext cx="1496570" cy="55206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Innovexa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5032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597548-3272-8DE5-3EA2-44FB2A645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069" y="810938"/>
            <a:ext cx="2699062" cy="22103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3AD0947-1D40-39E6-854E-78E4A37F75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4864" y="822791"/>
            <a:ext cx="3873910" cy="221751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3ED5DAF-10DA-47B8-FA75-2D27DE7C8A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2427" y="822791"/>
            <a:ext cx="2329880" cy="221034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E220E83-89BF-AAE1-A8FE-89FABED4749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0070"/>
          <a:stretch>
            <a:fillRect/>
          </a:stretch>
        </p:blipFill>
        <p:spPr>
          <a:xfrm>
            <a:off x="66675" y="829736"/>
            <a:ext cx="2960894" cy="221751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E4B0211-D8AD-A3C9-0FCC-643D222F0F7B}"/>
              </a:ext>
            </a:extLst>
          </p:cNvPr>
          <p:cNvSpPr txBox="1"/>
          <p:nvPr/>
        </p:nvSpPr>
        <p:spPr>
          <a:xfrm>
            <a:off x="361052" y="3077517"/>
            <a:ext cx="2595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Anomaly Detection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8380F5-5267-286D-20E8-8E54E8370E2C}"/>
              </a:ext>
            </a:extLst>
          </p:cNvPr>
          <p:cNvSpPr txBox="1"/>
          <p:nvPr/>
        </p:nvSpPr>
        <p:spPr>
          <a:xfrm>
            <a:off x="4265104" y="3105848"/>
            <a:ext cx="2595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Fault Detection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30441A-B043-7F41-B640-4D1D8D0A4DA1}"/>
              </a:ext>
            </a:extLst>
          </p:cNvPr>
          <p:cNvSpPr txBox="1"/>
          <p:nvPr/>
        </p:nvSpPr>
        <p:spPr>
          <a:xfrm>
            <a:off x="7240832" y="3041906"/>
            <a:ext cx="2477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Degradation Detection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835C9B-F46D-FF75-0654-57A5C7B7FF81}"/>
              </a:ext>
            </a:extLst>
          </p:cNvPr>
          <p:cNvSpPr txBox="1"/>
          <p:nvPr/>
        </p:nvSpPr>
        <p:spPr>
          <a:xfrm>
            <a:off x="10503259" y="3040303"/>
            <a:ext cx="1694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RUL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F0F6B70-8193-531D-1EF6-5B76D51EC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241538"/>
              </p:ext>
            </p:extLst>
          </p:nvPr>
        </p:nvGraphicFramePr>
        <p:xfrm>
          <a:off x="140879" y="3617385"/>
          <a:ext cx="11910241" cy="2616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07266">
                  <a:extLst>
                    <a:ext uri="{9D8B030D-6E8A-4147-A177-3AD203B41FA5}">
                      <a16:colId xmlns:a16="http://schemas.microsoft.com/office/drawing/2014/main" val="212280090"/>
                    </a:ext>
                  </a:extLst>
                </a:gridCol>
                <a:gridCol w="1475086">
                  <a:extLst>
                    <a:ext uri="{9D8B030D-6E8A-4147-A177-3AD203B41FA5}">
                      <a16:colId xmlns:a16="http://schemas.microsoft.com/office/drawing/2014/main" val="3040983695"/>
                    </a:ext>
                  </a:extLst>
                </a:gridCol>
                <a:gridCol w="1390312">
                  <a:extLst>
                    <a:ext uri="{9D8B030D-6E8A-4147-A177-3AD203B41FA5}">
                      <a16:colId xmlns:a16="http://schemas.microsoft.com/office/drawing/2014/main" val="2547602764"/>
                    </a:ext>
                  </a:extLst>
                </a:gridCol>
                <a:gridCol w="1458132">
                  <a:extLst>
                    <a:ext uri="{9D8B030D-6E8A-4147-A177-3AD203B41FA5}">
                      <a16:colId xmlns:a16="http://schemas.microsoft.com/office/drawing/2014/main" val="1738881132"/>
                    </a:ext>
                  </a:extLst>
                </a:gridCol>
                <a:gridCol w="1543402">
                  <a:extLst>
                    <a:ext uri="{9D8B030D-6E8A-4147-A177-3AD203B41FA5}">
                      <a16:colId xmlns:a16="http://schemas.microsoft.com/office/drawing/2014/main" val="131210371"/>
                    </a:ext>
                  </a:extLst>
                </a:gridCol>
                <a:gridCol w="1406771">
                  <a:extLst>
                    <a:ext uri="{9D8B030D-6E8A-4147-A177-3AD203B41FA5}">
                      <a16:colId xmlns:a16="http://schemas.microsoft.com/office/drawing/2014/main" val="1552125705"/>
                    </a:ext>
                  </a:extLst>
                </a:gridCol>
                <a:gridCol w="1475086">
                  <a:extLst>
                    <a:ext uri="{9D8B030D-6E8A-4147-A177-3AD203B41FA5}">
                      <a16:colId xmlns:a16="http://schemas.microsoft.com/office/drawing/2014/main" val="364074779"/>
                    </a:ext>
                  </a:extLst>
                </a:gridCol>
                <a:gridCol w="1754186">
                  <a:extLst>
                    <a:ext uri="{9D8B030D-6E8A-4147-A177-3AD203B41FA5}">
                      <a16:colId xmlns:a16="http://schemas.microsoft.com/office/drawing/2014/main" val="2471162319"/>
                    </a:ext>
                  </a:extLst>
                </a:gridCol>
              </a:tblGrid>
              <a:tr h="60887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Technical Area</a:t>
                      </a:r>
                      <a:endParaRPr lang="en-IN" sz="32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Dataset</a:t>
                      </a:r>
                      <a:endParaRPr lang="en-IN" sz="32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Fault classification</a:t>
                      </a:r>
                      <a:endParaRPr lang="en-IN" sz="32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Anomaly detection</a:t>
                      </a:r>
                      <a:endParaRPr lang="en-IN" sz="32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Temporal early warning</a:t>
                      </a:r>
                      <a:endParaRPr lang="en-IN" sz="32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Degradation estimation</a:t>
                      </a:r>
                      <a:endParaRPr lang="en-IN" sz="32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RUL estimation</a:t>
                      </a:r>
                      <a:endParaRPr lang="en-IN" sz="32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Explainability</a:t>
                      </a:r>
                      <a:endParaRPr lang="en-IN" sz="32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516492051"/>
                  </a:ext>
                </a:extLst>
              </a:tr>
              <a:tr h="174879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Result Obtained</a:t>
                      </a:r>
                      <a:endParaRPr lang="en-IN" sz="32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100 missions · 100,000 telemetry frames · 5 fault modes</a:t>
                      </a:r>
                      <a:endParaRPr lang="en-IN" sz="32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700" u="none" strike="noStrike" dirty="0">
                          <a:effectLst/>
                        </a:rPr>
                        <a:t>99.9% accuracy · 0.998 macro-F1 · 1.000 macro ROC-AUC</a:t>
                      </a:r>
                      <a:endParaRPr lang="en-IN" sz="17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91.47% accuracy · 83.11% F1 · 3.90% false-positive rate</a:t>
                      </a:r>
                      <a:endParaRPr lang="en-IN" sz="32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7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5-frame confirmation logic · 3,673 confirmed anomalies on 21,000 test samples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MAE 0.00141 · RMSE 0.00525 · R² 0.99963</a:t>
                      </a:r>
                      <a:endParaRPr lang="en-IN" sz="32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MAE 34.10 h · RMSE 70.56 h · R² 0.9007</a:t>
                      </a:r>
                      <a:endParaRPr lang="en-IN" sz="32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700" u="none" strike="noStrike" dirty="0">
                          <a:effectLst/>
                        </a:rPr>
                        <a:t>Class-specific SHAP feature attribution demonstrated for fault diagnosis</a:t>
                      </a:r>
                      <a:endParaRPr lang="en-IN" sz="17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910278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F84DA-D6A6-526A-F31D-AB09A30DD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6F70BF-FD25-EFAF-16B6-87E52B0BA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D8CEA12F-80AF-9942-F9E4-A2849F48C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99698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0118F0D3-3DAA-CD89-7773-7831494F2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768" y="1175784"/>
            <a:ext cx="3380563" cy="470898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700" b="1" dirty="0"/>
              <a:t>Analysis of Feasibility</a:t>
            </a:r>
          </a:p>
          <a:p>
            <a:endParaRPr lang="en-IN" sz="17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/>
              <a:t>Uses </a:t>
            </a:r>
            <a:r>
              <a:rPr lang="en-IN" sz="1700" b="1" dirty="0"/>
              <a:t>existing UAV engine sensors, CAN/</a:t>
            </a:r>
            <a:r>
              <a:rPr lang="en-IN" sz="1700" b="1" dirty="0" err="1"/>
              <a:t>SocketCAN</a:t>
            </a:r>
            <a:r>
              <a:rPr lang="en-IN" sz="1700" b="1" dirty="0"/>
              <a:t> and telemetry data</a:t>
            </a:r>
            <a:r>
              <a:rPr lang="en-IN" sz="1700" dirty="0"/>
              <a:t>, making deployment technically feasible.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/>
              <a:t>Combines </a:t>
            </a:r>
            <a:r>
              <a:rPr lang="en-IN" sz="1700" b="1" dirty="0"/>
              <a:t>physics-based features with lightweight ML models</a:t>
            </a:r>
            <a:r>
              <a:rPr lang="en-IN" sz="1700" dirty="0"/>
              <a:t> for real-time inference.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/>
              <a:t>Modular architecture with </a:t>
            </a:r>
            <a:r>
              <a:rPr lang="en-IN" sz="1700" b="1" dirty="0" err="1"/>
              <a:t>FastAPI</a:t>
            </a:r>
            <a:r>
              <a:rPr lang="en-IN" sz="1700" b="1" dirty="0"/>
              <a:t>, </a:t>
            </a:r>
            <a:r>
              <a:rPr lang="en-IN" sz="1700" b="1" dirty="0" err="1"/>
              <a:t>WebSockets</a:t>
            </a:r>
            <a:r>
              <a:rPr lang="en-IN" sz="1700" b="1" dirty="0"/>
              <a:t> and MongoDB</a:t>
            </a:r>
            <a:r>
              <a:rPr lang="en-IN" sz="1700" dirty="0"/>
              <a:t> supports scalable integration.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/>
              <a:t>Digital twin supports </a:t>
            </a:r>
            <a:r>
              <a:rPr lang="en-IN" sz="1700" b="1" dirty="0"/>
              <a:t>real-time monitoring, simulation, mission replay and fault injection</a:t>
            </a:r>
            <a:r>
              <a:rPr lang="en-IN" sz="1700" dirty="0"/>
              <a:t>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26738-1B16-78DB-74E7-B1B5F32E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8575D2-1CC9-377D-1DEC-75C891279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EAFFF8AF-5DCC-1382-0150-E0E6D7C1CF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9065" y="120208"/>
            <a:ext cx="158163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Innovexa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C22F57-EFEB-A243-D00E-55A0E394D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2249850" cy="9260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4EA83E-24A2-2FAB-59C3-DDB81D6D655D}"/>
              </a:ext>
            </a:extLst>
          </p:cNvPr>
          <p:cNvSpPr txBox="1"/>
          <p:nvPr/>
        </p:nvSpPr>
        <p:spPr>
          <a:xfrm>
            <a:off x="3993534" y="1175784"/>
            <a:ext cx="3380563" cy="48013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Potential Challenges &amp; Risks</a:t>
            </a:r>
          </a:p>
          <a:p>
            <a:pPr>
              <a:buNone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Sensor noise, drift and missing/incorrect telemetry can affect predictions.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Limited onboard computing resources may constrain real-time AI processing.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Insufficient real-world engine failure data can reduce model generalization.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Cybersecurity and communication failures may affect telemetry reliability.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False alarms or inaccurate RUL predictions could impact maintenance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6DAFAF-01D8-A63A-EED3-3433BE006581}"/>
              </a:ext>
            </a:extLst>
          </p:cNvPr>
          <p:cNvSpPr txBox="1"/>
          <p:nvPr/>
        </p:nvSpPr>
        <p:spPr>
          <a:xfrm>
            <a:off x="7644300" y="1171385"/>
            <a:ext cx="4457701" cy="48013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Strategies to Overcome Challenges</a:t>
            </a:r>
          </a:p>
          <a:p>
            <a:pPr>
              <a:buNone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Apply </a:t>
            </a:r>
            <a:r>
              <a:rPr lang="en-IN" b="1" dirty="0"/>
              <a:t>sensor validation, filtering and physics-based consistency checks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 </a:t>
            </a:r>
            <a:r>
              <a:rPr lang="en-IN" b="1" dirty="0"/>
              <a:t>lightweight tree-based models and edge-optimized inference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Combine simulation data with real flight/engine data and continuously retrain models.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Implement </a:t>
            </a:r>
            <a:r>
              <a:rPr lang="en-IN" b="1" dirty="0"/>
              <a:t>secure authenticated communication and integrity checks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 </a:t>
            </a:r>
            <a:r>
              <a:rPr lang="en-IN" b="1" dirty="0"/>
              <a:t>XAI, confidence scores and uncertainty bounds</a:t>
            </a:r>
            <a:r>
              <a:rPr lang="en-IN" dirty="0"/>
              <a:t> to support human decision-making.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Validate the complete system through </a:t>
            </a:r>
            <a:r>
              <a:rPr lang="en-IN" b="1" dirty="0"/>
              <a:t>mission replay and controlled fault injection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5955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89823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4429" y="120208"/>
            <a:ext cx="1507202" cy="73039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Innovexa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849105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ACE8642-6717-1E28-7501-115FB26568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1776380"/>
              </p:ext>
            </p:extLst>
          </p:nvPr>
        </p:nvGraphicFramePr>
        <p:xfrm>
          <a:off x="609600" y="799573"/>
          <a:ext cx="678239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0511A40-CAF8-C1A7-31E9-E25A2F454D8B}"/>
              </a:ext>
            </a:extLst>
          </p:cNvPr>
          <p:cNvSpPr/>
          <p:nvPr/>
        </p:nvSpPr>
        <p:spPr>
          <a:xfrm>
            <a:off x="7708604" y="1500196"/>
            <a:ext cx="4321330" cy="4646419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80FBC0-A117-13C5-6C1D-1072CF0F4755}"/>
              </a:ext>
            </a:extLst>
          </p:cNvPr>
          <p:cNvSpPr txBox="1"/>
          <p:nvPr/>
        </p:nvSpPr>
        <p:spPr>
          <a:xfrm>
            <a:off x="7780403" y="1714097"/>
            <a:ext cx="41777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Target Customers:</a:t>
            </a:r>
            <a:r>
              <a:rPr lang="en-IN" sz="1600" dirty="0"/>
              <a:t> Defence organizations, UAV manufacturers, engine manufacturers, and fleet operators(DRDO).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B26A2B-7F0B-B63B-0926-606A5DA0126A}"/>
              </a:ext>
            </a:extLst>
          </p:cNvPr>
          <p:cNvCxnSpPr/>
          <p:nvPr/>
        </p:nvCxnSpPr>
        <p:spPr>
          <a:xfrm>
            <a:off x="7708606" y="2570548"/>
            <a:ext cx="43213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70BDDC1-C1CC-2A1A-1589-2DDBE2E71D3E}"/>
              </a:ext>
            </a:extLst>
          </p:cNvPr>
          <p:cNvSpPr txBox="1"/>
          <p:nvPr/>
        </p:nvSpPr>
        <p:spPr>
          <a:xfrm>
            <a:off x="7708606" y="2613009"/>
            <a:ext cx="432133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/>
              <a:t>Value Proposition:</a:t>
            </a:r>
            <a:r>
              <a:rPr lang="en-IN" sz="1500" dirty="0"/>
              <a:t> Provides real-time engine health monitoring, early fault prediction, and predictive maintenance to improve mission reliability.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7FF5EE6-3DE5-0C57-BFA1-65F6566A50F0}"/>
              </a:ext>
            </a:extLst>
          </p:cNvPr>
          <p:cNvCxnSpPr/>
          <p:nvPr/>
        </p:nvCxnSpPr>
        <p:spPr>
          <a:xfrm>
            <a:off x="7708606" y="3429000"/>
            <a:ext cx="43213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963037B-D33B-5351-00C5-781304C6A7D8}"/>
              </a:ext>
            </a:extLst>
          </p:cNvPr>
          <p:cNvSpPr txBox="1"/>
          <p:nvPr/>
        </p:nvSpPr>
        <p:spPr>
          <a:xfrm>
            <a:off x="7708605" y="3429000"/>
            <a:ext cx="44833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Revenue Model:</a:t>
            </a:r>
            <a:r>
              <a:rPr lang="en-IN" sz="1600" dirty="0"/>
              <a:t> Annual per-UAV/fleet subscription combined with enterprise deployment and customization fees.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1952B3F-6792-08B4-DEF0-6B8A5A4667E1}"/>
              </a:ext>
            </a:extLst>
          </p:cNvPr>
          <p:cNvCxnSpPr>
            <a:cxnSpLocks/>
          </p:cNvCxnSpPr>
          <p:nvPr/>
        </p:nvCxnSpPr>
        <p:spPr>
          <a:xfrm>
            <a:off x="7708605" y="4259997"/>
            <a:ext cx="43213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B12E929-B589-012C-463E-E063A5B906A0}"/>
              </a:ext>
            </a:extLst>
          </p:cNvPr>
          <p:cNvSpPr txBox="1"/>
          <p:nvPr/>
        </p:nvSpPr>
        <p:spPr>
          <a:xfrm>
            <a:off x="7708607" y="4261102"/>
            <a:ext cx="43213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Go-to-Market Strategy:</a:t>
            </a:r>
            <a:r>
              <a:rPr lang="en-IN" sz="1600" dirty="0"/>
              <a:t> Start with pilot deployments and scale through defence contracts and partnerships with UAV/engine manufacturers.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498C82E-11CC-F0B3-1AD3-C2E2DFA4AF39}"/>
              </a:ext>
            </a:extLst>
          </p:cNvPr>
          <p:cNvCxnSpPr/>
          <p:nvPr/>
        </p:nvCxnSpPr>
        <p:spPr>
          <a:xfrm>
            <a:off x="7708605" y="5092099"/>
            <a:ext cx="43213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881C625-4B24-0107-6A02-FF999AB569EF}"/>
              </a:ext>
            </a:extLst>
          </p:cNvPr>
          <p:cNvSpPr txBox="1"/>
          <p:nvPr/>
        </p:nvSpPr>
        <p:spPr>
          <a:xfrm>
            <a:off x="7780404" y="5107471"/>
            <a:ext cx="44115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Key Cost Components:</a:t>
            </a:r>
            <a:r>
              <a:rPr lang="en-IN" sz="1600" dirty="0"/>
              <a:t> AI/ML development, cloud infrastructure, edge deployment, cybersecurity, system integration, and technical support.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A1586F3-90A4-DE9C-0FBB-FB5109A96E03}"/>
              </a:ext>
            </a:extLst>
          </p:cNvPr>
          <p:cNvSpPr/>
          <p:nvPr/>
        </p:nvSpPr>
        <p:spPr>
          <a:xfrm>
            <a:off x="8354129" y="1009512"/>
            <a:ext cx="3030280" cy="422423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62DA50-29A8-81A4-E809-868DD13479E7}"/>
              </a:ext>
            </a:extLst>
          </p:cNvPr>
          <p:cNvSpPr txBox="1"/>
          <p:nvPr/>
        </p:nvSpPr>
        <p:spPr>
          <a:xfrm>
            <a:off x="8903937" y="1023914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Business Model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48785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48785" y="174217"/>
            <a:ext cx="145969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Innovexa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71D8A9-616D-4923-C210-BEA1FAF78EF0}"/>
              </a:ext>
            </a:extLst>
          </p:cNvPr>
          <p:cNvSpPr txBox="1"/>
          <p:nvPr/>
        </p:nvSpPr>
        <p:spPr>
          <a:xfrm>
            <a:off x="475318" y="1377105"/>
            <a:ext cx="11440638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[1] An improved deep autoencoder framework for aviation piston engine unsupervised anomaly detection considering the real-life data characteristics </a:t>
            </a:r>
          </a:p>
          <a:p>
            <a:r>
              <a:rPr lang="en-IN" sz="1400" dirty="0">
                <a:hlinkClick r:id="rId4"/>
              </a:rPr>
              <a:t>https://www.cambridge.org/core/journals/aeronautical-journal/article/abs/an-improved-deep-autoencoder-framework-for-aviation-piston-engine-unsupervised-anomaly-detection-considering-the-reallife-data-characteristics/5CEDFA8C7CA73DC4984E00EEE760AF63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Proposes an improved deep autoencoder approach for detecting anomalies in aviation piston-engine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r>
              <a:rPr lang="en-IN" sz="1400" dirty="0"/>
              <a:t>[2] Study of Fuel-Controlled Aircraft Engine for Fuel-Powered Unmanned Aerial Vehicle: Energy Conversion Analysis and Optimization</a:t>
            </a:r>
          </a:p>
          <a:p>
            <a:r>
              <a:rPr lang="en-IN" sz="1400" dirty="0">
                <a:hlinkClick r:id="rId5"/>
              </a:rPr>
              <a:t>https://www.researchgate.net/publication/334755025_Study_of_Fuel-Controlled_Aircraft_Engine_for_Fuel-Powered_Unmanned_Aerial_Vehicle_Energy_Conversion_Analysis_and_Optimization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Studies fuel-controlled aircraft engines for UAVs, focusing on energy conversion and performance optimization</a:t>
            </a:r>
          </a:p>
          <a:p>
            <a:endParaRPr lang="en-IN" sz="1400" dirty="0"/>
          </a:p>
          <a:p>
            <a:r>
              <a:rPr lang="en-IN" sz="1400" dirty="0"/>
              <a:t>[3] Virtual Sensors for Aero Gas Turbine Engine Health Monitoring System</a:t>
            </a:r>
          </a:p>
          <a:p>
            <a:r>
              <a:rPr lang="en-IN" sz="1400" dirty="0">
                <a:hlinkClick r:id="rId6"/>
              </a:rPr>
              <a:t>https://www.drdo.gov.in/drdo/sites/default/files/technology-focus-documrnt/TF_MayJune2025.pdf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DRDO describes an AI/ML-based comprehensive engine diagnostic and health-monitoring system using virtual sensors, operational assessment and Digital Twin technology, aimed at improving engine reliability and longevity.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r>
              <a:rPr lang="en-IN" sz="1400" dirty="0"/>
              <a:t>[4] Fast API Documentation-  </a:t>
            </a:r>
            <a:r>
              <a:rPr lang="en-IN" sz="1400" dirty="0">
                <a:hlinkClick r:id="rId7"/>
              </a:rPr>
              <a:t>https://fastapi.tiangolo.com/</a:t>
            </a:r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[5]</a:t>
            </a:r>
            <a:r>
              <a:rPr lang="en-US" sz="1400" dirty="0"/>
              <a:t> Microservice in Python using </a:t>
            </a:r>
            <a:r>
              <a:rPr lang="en-US" sz="1400" dirty="0" err="1"/>
              <a:t>FastAPI</a:t>
            </a:r>
            <a:r>
              <a:rPr lang="en-US" sz="1400" dirty="0"/>
              <a:t> - </a:t>
            </a:r>
            <a:r>
              <a:rPr lang="en-US" sz="1400" dirty="0" err="1"/>
              <a:t>GeeksforGeeks</a:t>
            </a:r>
            <a:r>
              <a:rPr lang="en-US" sz="1400" dirty="0"/>
              <a:t> </a:t>
            </a:r>
          </a:p>
          <a:p>
            <a:r>
              <a:rPr lang="en-US" sz="1400" dirty="0">
                <a:hlinkClick r:id="rId8"/>
              </a:rPr>
              <a:t>https://www.geeksforgeeks.org/python/microservice-in-python-using-fastapi/</a:t>
            </a:r>
            <a:endParaRPr lang="en-US" sz="1400" dirty="0"/>
          </a:p>
          <a:p>
            <a:endParaRPr lang="en-US" sz="1400" dirty="0"/>
          </a:p>
          <a:p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5EE10-59C5-2E22-70CD-2AB235C83E0D}"/>
              </a:ext>
            </a:extLst>
          </p:cNvPr>
          <p:cNvSpPr txBox="1"/>
          <p:nvPr/>
        </p:nvSpPr>
        <p:spPr>
          <a:xfrm>
            <a:off x="8533514" y="5746310"/>
            <a:ext cx="60977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hlinkClick r:id="rId9"/>
              </a:rPr>
              <a:t>Deployment Documentation</a:t>
            </a:r>
            <a:endParaRPr lang="en-I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5AC1DC-FBDC-1468-8DAF-0C502758E859}"/>
              </a:ext>
            </a:extLst>
          </p:cNvPr>
          <p:cNvSpPr txBox="1"/>
          <p:nvPr/>
        </p:nvSpPr>
        <p:spPr>
          <a:xfrm>
            <a:off x="475318" y="5717911"/>
            <a:ext cx="19914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hlinkClick r:id="rId10"/>
              </a:rPr>
              <a:t>Git Repository</a:t>
            </a:r>
            <a:endParaRPr lang="en-IN" sz="2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4B834E-53CA-BB1B-1CB5-C2C8F75BB0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7629" y="5788086"/>
            <a:ext cx="282313" cy="3094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9F6E494-0905-AA03-F8E7-2D77B1C33C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64557" y="5893263"/>
            <a:ext cx="242563" cy="1785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031C3A-8AF4-F11A-B1D1-7EE3F52190F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77429" y="5893263"/>
            <a:ext cx="226895" cy="21643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D7AF430-8501-919D-688A-5BFD1D48B4F4}"/>
              </a:ext>
            </a:extLst>
          </p:cNvPr>
          <p:cNvSpPr txBox="1"/>
          <p:nvPr/>
        </p:nvSpPr>
        <p:spPr>
          <a:xfrm>
            <a:off x="2807120" y="5738376"/>
            <a:ext cx="26302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hlinkClick r:id="rId14"/>
              </a:rPr>
              <a:t>Demo Video</a:t>
            </a:r>
            <a:endParaRPr lang="en-IN" sz="2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E5CADD-F64B-161F-DA79-F95014519E47}"/>
              </a:ext>
            </a:extLst>
          </p:cNvPr>
          <p:cNvSpPr txBox="1"/>
          <p:nvPr/>
        </p:nvSpPr>
        <p:spPr>
          <a:xfrm>
            <a:off x="5094430" y="5769479"/>
            <a:ext cx="33489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hlinkClick r:id="rId15"/>
              </a:rPr>
              <a:t>Technical Documentation</a:t>
            </a:r>
            <a:endParaRPr lang="en-US" sz="2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C192E9D-4034-BF98-3BD3-83559106CD4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54047" y="5886449"/>
            <a:ext cx="226895" cy="21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7885</TotalTime>
  <Words>1195</Words>
  <Application>Microsoft Office PowerPoint</Application>
  <PresentationFormat>Widescreen</PresentationFormat>
  <Paragraphs>162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  AI-Enabled Real-Time Digital Twin System for Health Monitoring, Fault Prediction and Mission Reliability Enhancement of Aero Piston Engines used in MALE UAVs. </vt:lpstr>
      <vt:lpstr>METHODOLOGY </vt:lpstr>
      <vt:lpstr>METHODOLOGY </vt:lpstr>
      <vt:lpstr>TECHNICAL APPROACH  </vt:lpstr>
      <vt:lpstr>RESULTS</vt:lpstr>
      <vt:lpstr>RESULTS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Harsha Desai</cp:lastModifiedBy>
  <cp:revision>155</cp:revision>
  <dcterms:created xsi:type="dcterms:W3CDTF">2013-12-12T18:46:50Z</dcterms:created>
  <dcterms:modified xsi:type="dcterms:W3CDTF">2026-09-05T04:17:01Z</dcterms:modified>
  <cp:category/>
</cp:coreProperties>
</file>